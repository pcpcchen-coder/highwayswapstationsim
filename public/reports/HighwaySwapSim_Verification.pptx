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1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d2bbeacfc164e0e" /><Relationship Type="http://schemas.openxmlformats.org/officeDocument/2006/relationships/extended-properties" Target="/docProps/app.xml" Id="R32778d231bc84aca" /><Relationship Type="http://schemas.openxmlformats.org/officeDocument/2006/relationships/officeDocument" Target="/ppt/presentation.xml" Id="Rbc9cdab23b84403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ff54eba8fbf4f76"/>
  </p:sldMasterIdLst>
  <p:notesMasterIdLst>
    <p:notesMasterId xmlns:r="http://schemas.openxmlformats.org/officeDocument/2006/relationships" r:id="R86379769b1cf4cf2"/>
  </p:notesMasterIdLst>
  <p:sldIdLst>
    <p:sldId xmlns:r="http://schemas.openxmlformats.org/officeDocument/2006/relationships" id="256" r:id="Rcfdb41868e24458f"/>
    <p:sldId xmlns:r="http://schemas.openxmlformats.org/officeDocument/2006/relationships" id="257" r:id="R2182e83665af486f"/>
    <p:sldId xmlns:r="http://schemas.openxmlformats.org/officeDocument/2006/relationships" id="258" r:id="R701b3b6809584dc6"/>
    <p:sldId xmlns:r="http://schemas.openxmlformats.org/officeDocument/2006/relationships" id="259" r:id="R352fd1f9054d463f"/>
    <p:sldId xmlns:r="http://schemas.openxmlformats.org/officeDocument/2006/relationships" id="260" r:id="R1f1d013b9bce433d"/>
    <p:sldId xmlns:r="http://schemas.openxmlformats.org/officeDocument/2006/relationships" id="261" r:id="R268f1bc9ee0341d3"/>
    <p:sldId xmlns:r="http://schemas.openxmlformats.org/officeDocument/2006/relationships" id="262" r:id="Raf70ae203d324bc0"/>
    <p:sldId xmlns:r="http://schemas.openxmlformats.org/officeDocument/2006/relationships" id="263" r:id="R8c98def95b3b4c98"/>
    <p:sldId xmlns:r="http://schemas.openxmlformats.org/officeDocument/2006/relationships" id="264" r:id="R97385c9330374b8c"/>
    <p:sldId xmlns:r="http://schemas.openxmlformats.org/officeDocument/2006/relationships" id="265" r:id="R2c0bce6bc21d4d21"/>
    <p:sldId xmlns:r="http://schemas.openxmlformats.org/officeDocument/2006/relationships" id="266" r:id="Rfe98871182694fdd"/>
    <p:sldId xmlns:r="http://schemas.openxmlformats.org/officeDocument/2006/relationships" id="267" r:id="R96437e1f79814c33"/>
    <p:sldId xmlns:r="http://schemas.openxmlformats.org/officeDocument/2006/relationships" id="268" r:id="Re472180a367c4672"/>
    <p:sldId xmlns:r="http://schemas.openxmlformats.org/officeDocument/2006/relationships" id="269" r:id="R46b423f152fe42bf"/>
    <p:sldId xmlns:r="http://schemas.openxmlformats.org/officeDocument/2006/relationships" id="270" r:id="R1725187c1f6e4985"/>
    <p:sldId xmlns:r="http://schemas.openxmlformats.org/officeDocument/2006/relationships" id="271" r:id="Rfb17cb34b5714e2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a35dc8f373842a7" /><Relationship Type="http://schemas.openxmlformats.org/officeDocument/2006/relationships/slideMaster" Target="/ppt/slideMasters/slideMaster1.xml" Id="R7ff54eba8fbf4f76" /><Relationship Type="http://schemas.openxmlformats.org/officeDocument/2006/relationships/notesMaster" Target="/ppt/notesMasters/notesMaster1.xml" Id="R86379769b1cf4cf2" /><Relationship Type="http://schemas.openxmlformats.org/officeDocument/2006/relationships/presProps" Target="/ppt/presProps.xml" Id="Rea72bf124bee4c51" /><Relationship Type="http://schemas.openxmlformats.org/officeDocument/2006/relationships/tableStyles" Target="/ppt/tableStyles.xml" Id="Rb305fc05f0394134" /><Relationship Type="http://schemas.openxmlformats.org/officeDocument/2006/relationships/slide" Target="/ppt/slides/slide1.xml" Id="Rcfdb41868e24458f" /><Relationship Type="http://schemas.openxmlformats.org/officeDocument/2006/relationships/slide" Target="/ppt/slides/slide2.xml" Id="R2182e83665af486f" /><Relationship Type="http://schemas.openxmlformats.org/officeDocument/2006/relationships/slide" Target="/ppt/slides/slide3.xml" Id="R701b3b6809584dc6" /><Relationship Type="http://schemas.openxmlformats.org/officeDocument/2006/relationships/slide" Target="/ppt/slides/slide4.xml" Id="R352fd1f9054d463f" /><Relationship Type="http://schemas.openxmlformats.org/officeDocument/2006/relationships/slide" Target="/ppt/slides/slide5.xml" Id="R1f1d013b9bce433d" /><Relationship Type="http://schemas.openxmlformats.org/officeDocument/2006/relationships/slide" Target="/ppt/slides/slide6.xml" Id="R268f1bc9ee0341d3" /><Relationship Type="http://schemas.openxmlformats.org/officeDocument/2006/relationships/slide" Target="/ppt/slides/slide7.xml" Id="Raf70ae203d324bc0" /><Relationship Type="http://schemas.openxmlformats.org/officeDocument/2006/relationships/slide" Target="/ppt/slides/slide8.xml" Id="R8c98def95b3b4c98" /><Relationship Type="http://schemas.openxmlformats.org/officeDocument/2006/relationships/slide" Target="/ppt/slides/slide9.xml" Id="R97385c9330374b8c" /><Relationship Type="http://schemas.openxmlformats.org/officeDocument/2006/relationships/slide" Target="/ppt/slides/slide10.xml" Id="R2c0bce6bc21d4d21" /><Relationship Type="http://schemas.openxmlformats.org/officeDocument/2006/relationships/slide" Target="/ppt/slides/slide11.xml" Id="Rfe98871182694fdd" /><Relationship Type="http://schemas.openxmlformats.org/officeDocument/2006/relationships/slide" Target="/ppt/slides/slide12.xml" Id="R96437e1f79814c33" /><Relationship Type="http://schemas.openxmlformats.org/officeDocument/2006/relationships/slide" Target="/ppt/slides/slide13.xml" Id="Re472180a367c4672" /><Relationship Type="http://schemas.openxmlformats.org/officeDocument/2006/relationships/slide" Target="/ppt/slides/slide14.xml" Id="R46b423f152fe42bf" /><Relationship Type="http://schemas.openxmlformats.org/officeDocument/2006/relationships/slide" Target="/ppt/slides/slide15.xml" Id="R1725187c1f6e4985" /><Relationship Type="http://schemas.openxmlformats.org/officeDocument/2006/relationships/slide" Target="/ppt/slides/slide16.xml" Id="Rfb17cb34b5714e2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3f84ef3f73c49a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183170662b04fa7" /><Relationship Type="http://schemas.openxmlformats.org/officeDocument/2006/relationships/notesMaster" Target="/ppt/notesMasters/notesMaster1.xml" Id="R12693f67852e447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5f3b1e8cc9b4474" /><Relationship Type="http://schemas.openxmlformats.org/officeDocument/2006/relationships/notesMaster" Target="/ppt/notesMasters/notesMaster1.xml" Id="R0c167471bf1b40e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42d5c2dc10c4033" /><Relationship Type="http://schemas.openxmlformats.org/officeDocument/2006/relationships/notesMaster" Target="/ppt/notesMasters/notesMaster1.xml" Id="R92cb41528c5e44c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ae30a2761da444d" /><Relationship Type="http://schemas.openxmlformats.org/officeDocument/2006/relationships/notesMaster" Target="/ppt/notesMasters/notesMaster1.xml" Id="R7155cad9d796457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3583c86bab5407c" /><Relationship Type="http://schemas.openxmlformats.org/officeDocument/2006/relationships/notesMaster" Target="/ppt/notesMasters/notesMaster1.xml" Id="R269611b48add491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b3172e24daa4a4d" /><Relationship Type="http://schemas.openxmlformats.org/officeDocument/2006/relationships/notesMaster" Target="/ppt/notesMasters/notesMaster1.xml" Id="R8ed1974fa31744f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43b67091273433b" /><Relationship Type="http://schemas.openxmlformats.org/officeDocument/2006/relationships/notesMaster" Target="/ppt/notesMasters/notesMaster1.xml" Id="Rfe53838165ba41e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173a0ff858d426b" /><Relationship Type="http://schemas.openxmlformats.org/officeDocument/2006/relationships/notesMaster" Target="/ppt/notesMasters/notesMaster1.xml" Id="R619c8a61e6c6442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8e46ef2e5244982" /><Relationship Type="http://schemas.openxmlformats.org/officeDocument/2006/relationships/notesMaster" Target="/ppt/notesMasters/notesMaster1.xml" Id="R8d4b55a19f30491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2bf217babe8484c" /><Relationship Type="http://schemas.openxmlformats.org/officeDocument/2006/relationships/notesMaster" Target="/ppt/notesMasters/notesMaster1.xml" Id="Ra46c8a492cb147d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d5c538aa0934fb4" /><Relationship Type="http://schemas.openxmlformats.org/officeDocument/2006/relationships/notesMaster" Target="/ppt/notesMasters/notesMaster1.xml" Id="Re946e3530077415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52ede3522844868" /><Relationship Type="http://schemas.openxmlformats.org/officeDocument/2006/relationships/notesMaster" Target="/ppt/notesMasters/notesMaster1.xml" Id="R3d202ea79e574bf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e2097fc610d472b" /><Relationship Type="http://schemas.openxmlformats.org/officeDocument/2006/relationships/notesMaster" Target="/ppt/notesMasters/notesMaster1.xml" Id="R9b26abf314d24a2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6acc219f3eb4c9a" /><Relationship Type="http://schemas.openxmlformats.org/officeDocument/2006/relationships/notesMaster" Target="/ppt/notesMasters/notesMaster1.xml" Id="R6973d3c5df8642a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0bd1d46571647aa" /><Relationship Type="http://schemas.openxmlformats.org/officeDocument/2006/relationships/notesMaster" Target="/ppt/notesMasters/notesMaster1.xml" Id="R91bca1aacf1541c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f68e405b94f41d3" /><Relationship Type="http://schemas.openxmlformats.org/officeDocument/2006/relationships/notesMaster" Target="/ppt/notesMasters/notesMaster1.xml" Id="R79fdf6a4f7d74cd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本報告檢查模型與程式在指定測試範圍內的一致性。三組資料皆為合成案例，不是現場營運紀錄。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HighwaySwapSim v0.3 / schema 1.3; Repository data/verification/fixtures.json; expected-summary.json; corrections.json; docs/evidence/v0.3.0/verification-report.json.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高精度獨立對照支持數值檢查；不構成對所有輸入、所有工況或站點獲利的保證。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HighwaySwapSim v0.3 / schema 1.3; Repository data/verification/fixtures.json; expected-summary.json; corrections.json; docs/evidence/v0.3.0/verification-report.json.</a:t>
            </a:r>
          </a:p>
          <a:p xmlns:a="http://schemas.openxmlformats.org/drawingml/2006/main">
            <a:r>
              <a:t>ASME, Verification, Validation and Uncertainty Quantification: https://www.asme.org/codes-standards/publications-information/verification-validation-uncertainty (accessed 2026-09-08)</a:t>
            </a:r>
          </a:p>
          <a:p xmlns:a="http://schemas.openxmlformats.org/drawingml/2006/main">
            <a:r>
              <a:t>NIST, Summary of Industrial Verification, Validation and Uncertainty Quantification Procedures: https://www.nist.gov/publications/summary-industrial-verification-validation-and-uncertainty-quantification-procedures (accessed 2026-09-08)</a:t>
            </a:r>
          </a:p>
          <a:p xmlns:a="http://schemas.openxmlformats.org/drawingml/2006/main">
            <a:r>
              <a:t>NASA-STD-7009, Standard for Models and Simulations: https://standards.nasa.gov/standard/NASA/NASA-STD-7009 (accessed 2026-09-08)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能力範圍為 1–31 日連續模擬，逐車到站列包含 day，設備停機使用絕對分鐘。源鏈和詳細拓撲的額定功率、能損與計量邊界必須一致。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HighwaySwapSim v0.3 / schema 1.3; Repository data/verification/fixtures.json; expected-summary.json; corrections.json; docs/evidence/v0.3.0/verification-report.json.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原版 0.2.0 再現：輔機供電移除仍服務；1 kWh / 480 kW 應在 0.125 分鐘完成，原版取 1 分鐘。財務有效輸入案例原 IRR 輸出年化 409,500%，獨立真值為 −99.9755859375%。修正狀態由凍結版本測試確認。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HighwaySwapSim v0.3 / schema 1.3; Repository data/verification/fixtures.json; expected-summary.json; corrections.json; docs/evidence/v0.3.0/verification-report.json.</a:t>
            </a:r>
          </a:p>
          <a:p xmlns:a="http://schemas.openxmlformats.org/drawingml/2006/main">
            <a:r>
              <a:t>Local audit/electrical-repro.mjs; audit/event-repro.mjs; audit/path-repro.mjs; financial audit regression findings.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以上方程適用三組合成 fixture 的效率：SST0.98、DD0.95、PCS0.96、變壓器0.98。E_AC 為變壓器輸出側 AC 負載，不經 PCS/DD。獨立基準不代表永不出錯；本輪複核修正 ready 數量日界歸屬與逐時收入／完成計數的會計期間語意。每次修正依明定契約重新獨立推導，保留首次失敗報告及更正 hash，不以程式實際值覆寫獨立期望。詳 corrections.json、first-attempt-report 及 verification-report.json。數值精度不能替代物理模型或真實資料確認。引用來源只支持驗證／確認／不確定性方法觀念，不代表取得任何機構認證。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HighwaySwapSim v0.3 / schema 1.3; Repository data/verification/fixtures.json; expected-summary.json; corrections.json; docs/evidence/v0.3.0/verification-report.json.</a:t>
            </a:r>
          </a:p>
          <a:p xmlns:a="http://schemas.openxmlformats.org/drawingml/2006/main">
            <a:r>
              <a:t>ASME, Verification, Validation and Uncertainty Quantification: https://www.asme.org/codes-standards/publications-information/verification-validation-uncertainty (accessed 2026-09-08)</a:t>
            </a:r>
          </a:p>
          <a:p xmlns:a="http://schemas.openxmlformats.org/drawingml/2006/main">
            <a:r>
              <a:t>NIST, Summary of Industrial Verification, Validation and Uncertainty Quantification Procedures: https://www.nist.gov/publications/summary-industrial-verification-validation-and-uncertainty-quantification-procedures (accessed 2026-09-08)</a:t>
            </a:r>
          </a:p>
          <a:p xmlns:a="http://schemas.openxmlformats.org/drawingml/2006/main">
            <a:r>
              <a:t>NASA-STD-7009, Standard for Models and Simulations: https://standards.nasa.gov/standard/NASA/NASA-STD-7009 (accessed 2026-09-08)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所有案例初始 A/B 各一顆滿電 100 kWh 電池；電池端或 EV 端充電功率 50 kW。換電佔用 7.5 分鐘。金額單位 CNY，電價單位 CNY/kWh。V03 A 購電每日 0.4/0.5/0.6/0.7/0.8；B 的 0.90 欄位只影響 B 到站鎖定的零售價，加服務費0.30後為1.20，不能替代 A-grid 的實際購電價。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Repository data/verification/fixtures.json; expected-summary.json; corrections.json</a:t>
            </a:r>
          </a:p>
          <a:p xmlns:a="http://schemas.openxmlformats.org/drawingml/2006/main">
            <a:r>
              <a:t>Repository docs/evidence/v0.3.0/verification-report.json; artifacts/verification/actual-V01_SST_3D.json; actual-V02_PCS_AC_EV_4D.json; actual-V03_OUTAGE_CROSSSITE_5D.json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案例 V01_SST_3D。3天共完成6次換電，600kWh客戶交付，期初/期末庫存同為200kWh。</a:t>
            </a:r>
          </a:p>
          <a:p xmlns:a="http://schemas.openxmlformats.org/drawingml/2006/main">
            <a:r>
              <a:t>完整每日結果包含損耗、庫存變化、服務次數、來源與元件帳本，詳見基準與比對檔。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Repository data/verification/fixtures.json; expected-summary.json; corrections.json</a:t>
            </a:r>
          </a:p>
          <a:p xmlns:a="http://schemas.openxmlformats.org/drawingml/2006/main">
            <a:r>
              <a:t>Repository docs/evidence/v0.3.0/verification-report.json; artifacts/verification/actual-V01_SST_3D.json; actual-V02_PCS_AC_EV_4D.json; actual-V03_OUTAGE_CROSSSITE_5D.json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案例 V02_PCS_AC_EV_4D。兩站共1920kWh固定輔機耗電；即使客戶每次收費含服務費，模型期間貢獻仍為負值。</a:t>
            </a:r>
          </a:p>
          <a:p xmlns:a="http://schemas.openxmlformats.org/drawingml/2006/main">
            <a:r>
              <a:t>完整每日結果包含損耗、庫存變化、服務次數、來源與元件帳本，詳見基準與比對檔。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Repository data/verification/fixtures.json; expected-summary.json; corrections.json</a:t>
            </a:r>
          </a:p>
          <a:p xmlns:a="http://schemas.openxmlformats.org/drawingml/2006/main">
            <a:r>
              <a:t>Repository docs/evidence/v0.3.0/verification-report.json; artifacts/verification/actual-V01_SST_3D.json; actual-V02_PCS_AC_EV_4D.json; actual-V03_OUTAGE_CROSSSITE_5D.json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案例 V03_OUTAGE_CROSSSITE_5D。第2至3日供應中斷；第4日清償保留的佇列。所有物理進口來自A-grid，依A來源小時電價結算。</a:t>
            </a:r>
          </a:p>
          <a:p xmlns:a="http://schemas.openxmlformats.org/drawingml/2006/main">
            <a:r>
              <a:t>完整每日結果包含損耗、庫存變化、服務次數、來源與元件帳本，詳見基準與比對檔。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Repository data/verification/fixtures.json; expected-summary.json; corrections.json</a:t>
            </a:r>
          </a:p>
          <a:p xmlns:a="http://schemas.openxmlformats.org/drawingml/2006/main">
            <a:r>
              <a:t>Repository docs/evidence/v0.3.0/verification-report.json; artifacts/verification/actual-V01_SST_3D.json; actual-V02_PCS_AC_EV_4D.json; actual-V03_OUTAGE_CROSSSITE_5D.json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曲線逐日服務數相同，但最長等待1567.5分鐘顯示服務水準可能不足。依本次輸入和假設，期末比期初少112.5kWh，期間能源收支389.41CNY包含庫存耗用，不得外推為穩態利潤。此為刻意設計的邊界案例；並非因盈餘為正即表示通過商業可行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Repository data/verification/fixtures.json; expected-summary.json; corrections.json</a:t>
            </a:r>
          </a:p>
          <a:p xmlns:a="http://schemas.openxmlformats.org/drawingml/2006/main">
            <a:r>
              <a:t>Repository docs/evidence/v0.3.0/verification-report.json; artifacts/verification/actual-V01_SST_3D.json; actual-V02_PCS_AC_EV_4D.json; actual-V03_OUTAGE_CROSSSITE_5D.json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表中採用獨立全精度值加總並顯示3位小數；各顯示值獨立捨入，守恆判定使用未截短數值。程式逐元件、逐時與獨立基準比較，誤差見verification-report。變壓器損失含 AC 輔機與 EV 兩支路；PCS / DD 只承擔 EV 支路。輸出跨全部節點直接加總會重複計算內部傳遞，不能視為客戶交付。全站順序為電網＝客戶＋輔機＋損耗＋庫存變化。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Repository data/verification/fixtures.json; expected-summary.json; corrections.json</a:t>
            </a:r>
          </a:p>
          <a:p xmlns:a="http://schemas.openxmlformats.org/drawingml/2006/main">
            <a:r>
              <a:t>Repository docs/evidence/v0.3.0/verification-report.json; artifacts/verification/actual-V01_SST_3D.json; actual-V02_PCS_AC_EV_4D.json; actual-V03_OUTAGE_CROSSSITE_5D.json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逐時收入按交付電量認列；其期間合計與交易結算總額對帳。電網精確未捨入成本V01=322.234156820623、V02=1569.853204439671、V03=660.580021482277；依每來源小時帳單結算後322.26、1569.44、660.59。差額是契約定義的逐帳單捨入，並非計算殘差。負收支是測試對真實成本機制的反映；正收支亦不等於會計淨利或投資報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Repository data/verification/fixtures.json; expected-summary.json; corrections.json</a:t>
            </a:r>
          </a:p>
          <a:p xmlns:a="http://schemas.openxmlformats.org/drawingml/2006/main">
            <a:r>
              <a:t>Repository docs/evidence/v0.3.0/verification-report.json; artifacts/verification/actual-V01_SST_3D.json; actual-V02_PCS_AC_EV_4D.json; actual-V03_OUTAGE_CROSSSITE_5D.json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凍結報告 status PASS、failed 0。案件檢查數：8957 / 25431 / 13101。{"reportSHA256":"9eaaac66465b9b0f72710b8393e7148c9fc54fe29564f894c8039de15b8f32e0","fixtureSHA256":"d119bc33a4961afad6d4970e9f0a974f88ae54543cce098379e8d945cad2d209","expectedSHA256":"ea9c02a3d6b9b9a47f955fb707accbef97de7d184820e1d7ab687f1c65be208f","generatedAt":"2026-09-08T03:33:38.201Z","assertions":47489,"tolerance":{"kWh":0.000001,"kW":0.000001,"minutes":0.000001,"count":0,"settledCurrencyCents":0,"currencyBinaryRepresentationNoiseCNY":1e-8,"unroundedAnalyticalCNY":0.000001},"modelSourceManifestSHA256":"141d3ff769965122547d1d835a7b715111a8b257073e6583332d7016b2691b27","codeSHA256":{"packages/contracts/index.ts":"38a85e0f3b2e9a0d63650b907b2167c65c207922c39a765d51f396d888668c37","packages/station-engine/index.ts":"b4cf89167e67aaba3eaf33175c66fa305bb8690d43df7f2178735951847e74a2","packages/electrical-engine/index.ts":"426c53a866bfee997a80b415d8c242ea7d18d9afd3a1bde99e7a7b1ce6eca78d","packages/money/index.ts":"2b1de534011b4b461a276e1ca59661a008c9034d2ae70480c75544cb671b9b29","packages/verification/cases.ts":"f2d0e88204fd460ad87430c6aefe52113893317a6b6461dd01710dfb115ffe59","plugins/equipment/index.ts":"b0881cb32737542a318f549ada2e37eae02b84f625d398372bc48989fa277f72","data/verification/fixtures.json":"d119bc33a4961afad6d4970e9f0a974f88ae54543cce098379e8d945cad2d209"},"runnerSHA256":"909f9a5aa8b43d71b70812fc064fe0224ea25eb37170a59360699fb7d1a44b71","comparisonHistory":{"firstRun":{"reportPath":"/workspace/sites/highway-swap-station-sim/docs/evidence/v0.3.0/first-run-mismatch.json","status":"FAIL","assertions":47033,"passed":46809,"failed":224,"expectedSHA256":"303cb4f81e9cdaa77b72d4319d1f55899b19017ac8a78d697ab30005722514c3","resolution":"C02 clarified delivery-interval revenue and half-open completion counts; transformer input kVA rating maps to output capacity after efficiency. Original mismatch report and snapshots preserved."},"resolvedRun":{"status":"PASS","assertions":47489,"failed":0}},"validatorMutationChecks":[{"label":"physical source meter +1 kWh","reusedCaseId":"V01_SST_3D","mutationPath":"sourceMeters[0].importKWh","original":46.99248120300752,"mutated":47.99248120300752,"expectedStatus":"FAIL","observedStatus":"FAIL","detected":true,"failedAssertions":8,"exampleFailurePaths":["V01_SST_3D.sourceHour[0:A-grid].importKWh","V01_SST_3D.sourceHour[0:A-grid].energyForInvoiceMicroKWh","V01_SST_3D.sourceHour[0:A-grid].costExact","V01_SST_3D.sourceTotal[A-grid].importKWh","V01_SST_3D.sourceTotal[A-grid].costExact","V01_SST_3D.totals.gridCostExact"],"excludedFromMainAssertionCounts":true},{"label":"source-hour invoice +0.01 CNY","reusedCaseId":"V01_SST_3D","mutationPath":"sourceMeters[0].cost","original":23.5,"mutated":23.51,"expectedStatus":"FAIL","observedStatus":"FAIL","detected":true,"failedAssertions":6,"exampleFailurePaths":["V01_SST_3D.hour[0].settledSourceCost","V01_SST_3D.sourceHour[0:A-grid].costSettled","V01_SST_3D.day[0].totals.gridCostSettled","V01_SST_3D.day[0].totals.modeledOperatingContributionSettled","V01_SST_3D.sourceTotal[A-grid].costSettled","V01_SST_3D.totals.sourceCostReconciliation"],"excludedFromMainAssertionCounts":true}]}。比較器另以電表+1kWh及發票+0.01CNY做mutation自驗，均能拒絕錯誤；不納入第三／第四案例或主assertion總數。結算貨幣用整分精確對帳，允許的 CNY 二進位表示雜訊1e-8並非放寬整分門檻。43項回歸＝核心15＋財務13＋物理15。補充3日整合smoke：92設備96連線、購入302933.502211kWh、交付233286.136kWh、初末8208kWh、maxreportedresidual2.00e-11kWh，來源 audit/full-detail-three-day-smoke-report.json。此不是第四個獨立解析案例。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Repository data/verification/fixtures.json; expected-summary.json; corrections.json</a:t>
            </a:r>
          </a:p>
          <a:p xmlns:a="http://schemas.openxmlformats.org/drawingml/2006/main">
            <a:r>
              <a:t>Repository docs/evidence/v0.3.0/verification-report.json; artifacts/verification/actual-V01_SST_3D.json; actual-V02_PCS_AC_EV_4D.json; actual-V03_OUTAGE_CROSSSITE_5D.json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觀測期間營運貢獻＝結算收入−實際電網支付−交付 kWh×其他變動成本−已知每日固定成本×期間天數。當固定每日成本未知，不應回傳完整營運貢獻；CAPEX 或固定成本缺漏亦阻止投資預測。長期成長曲線是代表日與外生假設的投影。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HighwaySwapSim v0.3 / schema 1.3; Repository data/verification/fixtures.json; expected-summary.json; corrections.json; docs/evidence/v0.3.0/verification-report.json.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現場容許誤差須根據電表與時間紀錄精度、資料完整性及營運決策用途制定。本報告的數值容差不能直接當作實體設備量測精度。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HighwaySwapSim v0.3 / schema 1.3; Repository data/verification/fixtures.json; expected-summary.json; corrections.json; docs/evidence/v0.3.0/verification-report.json.</a:t>
            </a:r>
          </a:p>
          <a:p xmlns:a="http://schemas.openxmlformats.org/drawingml/2006/main">
            <a:r>
              <a:t>ASME, Verification, Validation and Uncertainty Quantification: https://www.asme.org/codes-standards/publications-information/verification-validation-uncertainty (accessed 2026-09-08)</a:t>
            </a:r>
          </a:p>
          <a:p xmlns:a="http://schemas.openxmlformats.org/drawingml/2006/main">
            <a:r>
              <a:t>NIST, Summary of Industrial Verification, Validation and Uncertainty Quantification Procedures: https://www.nist.gov/publications/summary-industrial-verification-validation-and-uncertainty-quantification-procedures (accessed 2026-09-08)</a:t>
            </a:r>
          </a:p>
          <a:p xmlns:a="http://schemas.openxmlformats.org/drawingml/2006/main">
            <a:r>
              <a:t>NASA-STD-7009, Standard for Models and Simulations: https://standards.nasa.gov/standard/NASA/NASA-STD-7009 (accessed 2026-09-08)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重現請固定程式版本、schema、輸入、期間、捨入規則；保留逐時帳本、期末狀態、程式輸出與獨立結果。任何程式或模型變更後，應重跑相同基準及新增受影響的邊界案例。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HighwaySwapSim v0.3 / schema 1.3; Repository data/verification/fixtures.json; expected-summary.json; corrections.json; docs/evidence/v0.3.0/verification-report.json.</a:t>
            </a:r>
          </a:p>
          <a:p xmlns:a="http://schemas.openxmlformats.org/drawingml/2006/main">
            <a:r>
              <a:t>ASME, Verification, Validation and Uncertainty Quantification: https://www.asme.org/codes-standards/publications-information/verification-validation-uncertainty (accessed 2026-09-08)</a:t>
            </a:r>
          </a:p>
          <a:p xmlns:a="http://schemas.openxmlformats.org/drawingml/2006/main">
            <a:r>
              <a:t>NIST, Summary of Industrial Verification, Validation and Uncertainty Quantification Procedures: https://www.nist.gov/publications/summary-industrial-verification-validation-and-uncertainty-quantification-procedures (accessed 2026-09-08)</a:t>
            </a:r>
          </a:p>
          <a:p xmlns:a="http://schemas.openxmlformats.org/drawingml/2006/main">
            <a:r>
              <a:t>NASA-STD-7009, Standard for Models and Simulations: https://standards.nasa.gov/standard/NASA/NASA-STD-7009 (accessed 2026-09-08)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d781c2b3e748a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891aac274d243bc" /><Relationship Type="http://schemas.openxmlformats.org/officeDocument/2006/relationships/slideLayout" Target="/ppt/slideLayouts/slideLayout1.xml" Id="R13aa8e327df54f0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3aa8e327df54f0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3adef78d3345e1" /><Relationship Type="http://schemas.openxmlformats.org/officeDocument/2006/relationships/notesSlide" Target="/ppt/notesSlides/notesSlide1.xml" Id="R6e008ca5361946a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84a24d34e74d4e" /><Relationship Type="http://schemas.openxmlformats.org/officeDocument/2006/relationships/notesSlide" Target="/ppt/notesSlides/notesSlide2.xml" Id="Rfc3767d3fd264e0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601f2d81f4428b" /><Relationship Type="http://schemas.openxmlformats.org/officeDocument/2006/relationships/notesSlide" Target="/ppt/notesSlides/notesSlide3.xml" Id="R735bebf1b5cd40f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a51d39a13d4c9e" /><Relationship Type="http://schemas.openxmlformats.org/officeDocument/2006/relationships/notesSlide" Target="/ppt/notesSlides/notesSlide4.xml" Id="R8bbb13cb8d3545d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ed052b9b3d4dbc" /><Relationship Type="http://schemas.openxmlformats.org/officeDocument/2006/relationships/notesSlide" Target="/ppt/notesSlides/notesSlide5.xml" Id="Rfdb4db79eb464b4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0c1f659457487c" /><Relationship Type="http://schemas.openxmlformats.org/officeDocument/2006/relationships/notesSlide" Target="/ppt/notesSlides/notesSlide6.xml" Id="Rfc5ee584d7a441d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7e7ceb2f7547d9" /><Relationship Type="http://schemas.openxmlformats.org/officeDocument/2006/relationships/notesSlide" Target="/ppt/notesSlides/notesSlide7.xml" Id="R30d1d8e507b84b4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a5db8c5123496f" /><Relationship Type="http://schemas.openxmlformats.org/officeDocument/2006/relationships/notesSlide" Target="/ppt/notesSlides/notesSlide8.xml" Id="Re85745f8929c41b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ed2be79a1441d9" /><Relationship Type="http://schemas.openxmlformats.org/officeDocument/2006/relationships/notesSlide" Target="/ppt/notesSlides/notesSlide9.xml" Id="R9c6f7325decc462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ab20ab54e94e94" /><Relationship Type="http://schemas.openxmlformats.org/officeDocument/2006/relationships/chart" Target="/ppt/slides/charts/chart1.xml" Id="Ra27cd80ac70b4351" /><Relationship Type="http://schemas.openxmlformats.org/officeDocument/2006/relationships/notesSlide" Target="/ppt/notesSlides/notesSlide10.xml" Id="R7c5f38d2f565418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3891b43d354d81" /><Relationship Type="http://schemas.openxmlformats.org/officeDocument/2006/relationships/notesSlide" Target="/ppt/notesSlides/notesSlide11.xml" Id="R7c2f75f9f8c74c0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5eb86430b04800" /><Relationship Type="http://schemas.openxmlformats.org/officeDocument/2006/relationships/notesSlide" Target="/ppt/notesSlides/notesSlide12.xml" Id="Rc3cebb800dd0407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edfa9df1f347f6" /><Relationship Type="http://schemas.openxmlformats.org/officeDocument/2006/relationships/notesSlide" Target="/ppt/notesSlides/notesSlide13.xml" Id="Re8c883dca5304a3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3223dbc15944ae" /><Relationship Type="http://schemas.openxmlformats.org/officeDocument/2006/relationships/notesSlide" Target="/ppt/notesSlides/notesSlide14.xml" Id="R99e9c379b6b2446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5b8e7b690544fd" /><Relationship Type="http://schemas.openxmlformats.org/officeDocument/2006/relationships/notesSlide" Target="/ppt/notesSlides/notesSlide15.xml" Id="R55a44d1f211445b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34e5d1da714224" /><Relationship Type="http://schemas.openxmlformats.org/officeDocument/2006/relationships/notesSlide" Target="/ppt/notesSlides/notesSlide16.xml" Id="Rfd1ea19db6d84ce5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Program</c:v>
          </c:tx>
          <c:spPr>
            <a:ln xmlns:a="http://schemas.openxmlformats.org/drawingml/2006/main" w="38100">
              <a:solidFill>
                <a:srgbClr val="3D8DFF"/>
              </a:solidFill>
            </a:ln>
          </c:spPr>
          <c:marker>
            <c:symbol val="circle"/>
            <c:size val="8"/>
            <c:spPr>
              <a:solidFill xmlns:a="http://schemas.openxmlformats.org/drawingml/2006/main">
                <a:srgbClr val="3D8DFF"/>
              </a:solidFill>
            </c:spPr>
          </c:marker>
          <c:cat>
            <c:strLit>
              <c:ptCount val="5"/>
              <c:pt idx="0">
                <c:v>D1</c:v>
              </c:pt>
              <c:pt idx="1">
                <c:v>D2</c:v>
              </c:pt>
              <c:pt idx="2">
                <c:v>D3</c:v>
              </c:pt>
              <c:pt idx="3">
                <c:v>D4</c:v>
              </c:pt>
              <c:pt idx="4">
                <c:v>D5</c:v>
              </c:pt>
            </c:strLit>
          </c:cat>
          <c:val>
            <c:numLit>
              <c:formatCode>0</c:formatCode>
              <c:ptCount val="5"/>
              <c:pt idx="0">
                <c:v>2</c:v>
              </c:pt>
              <c:pt idx="1">
                <c:v>0</c:v>
              </c:pt>
              <c:pt idx="2">
                <c:v>0</c:v>
              </c:pt>
              <c:pt idx="3">
                <c:v>6</c:v>
              </c:pt>
              <c:pt idx="4">
                <c:v>2</c:v>
              </c:pt>
            </c:numLit>
          </c:val>
          <c:smooth val="0"/>
        </c:ser>
        <c:ser>
          <c:idx val="1"/>
          <c:order val="1"/>
          <c:tx>
            <c:v>Decimal</c:v>
          </c:tx>
          <c:spPr>
            <a:ln xmlns:a="http://schemas.openxmlformats.org/drawingml/2006/main" w="19050">
              <a:solidFill>
                <a:srgbClr val="111111"/>
              </a:solidFill>
              <a:prstDash val="dash"/>
            </a:ln>
          </c:spPr>
          <c:marker>
            <c:symbol val="diamond"/>
            <c:size val="7"/>
            <c:spPr>
              <a:solidFill xmlns:a="http://schemas.openxmlformats.org/drawingml/2006/main">
                <a:srgbClr val="111111"/>
              </a:solidFill>
            </c:spPr>
          </c:marker>
          <c:cat>
            <c:strLit>
              <c:ptCount val="5"/>
              <c:pt idx="0">
                <c:v>D1</c:v>
              </c:pt>
              <c:pt idx="1">
                <c:v>D2</c:v>
              </c:pt>
              <c:pt idx="2">
                <c:v>D3</c:v>
              </c:pt>
              <c:pt idx="3">
                <c:v>D4</c:v>
              </c:pt>
              <c:pt idx="4">
                <c:v>D5</c:v>
              </c:pt>
            </c:strLit>
          </c:cat>
          <c:val>
            <c:numLit>
              <c:formatCode>0</c:formatCode>
              <c:ptCount val="5"/>
              <c:pt idx="0">
                <c:v>2</c:v>
              </c:pt>
              <c:pt idx="1">
                <c:v>0</c:v>
              </c:pt>
              <c:pt idx="2">
                <c:v>0</c:v>
              </c:pt>
              <c:pt idx="3">
                <c:v>6</c:v>
              </c:pt>
              <c:pt idx="4">
                <c:v>2</c:v>
              </c:pt>
            </c:numLit>
          </c:val>
          <c:smooth val="0"/>
        </c:ser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11111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111111"/>
                    </a:solidFill>
                  </a:rPr>
                  <a:t>sessions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11111"/>
                  </a:solidFill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11111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111111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B215B68F-0E50-4FFA-B2DC-A097CE944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8150"/>
            <a:ext cx="11125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0">
                <a:solidFill>
                  <a:srgbClr val="111111"/>
                </a:solidFill>
                <a:latin typeface="Noto Sans CJK TC"/>
                <a:ea typeface="Noto Sans CJK TC"/>
                <a:cs typeface="Noto Sans CJK TC"/>
              </a:rPr>
              <a:t>GEORGE  /  工程與管理驗證報告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A12E7DA8-D6E7-444D-8C45-88FA04CD2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00250"/>
            <a:ext cx="111252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700" b="0">
                <a:solidFill>
                  <a:srgbClr val="111111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5700" b="0">
                <a:solidFill>
                  <a:srgbClr val="111111"/>
                </a:solidFill>
                <a:latin typeface="Noto Sans CJK TC"/>
                <a:ea typeface="Noto Sans CJK TC"/>
                <a:cs typeface="Noto Sans CJK TC"/>
              </a:rPr>
              <a:t>HighwaySwapSim</a:t>
            </a:r>
          </a:p>
          <a:p xmlns:a="http://schemas.openxmlformats.org/drawingml/2006/main">
            <a:pPr algn="l">
              <a:defRPr sz="5700" b="0">
                <a:solidFill>
                  <a:srgbClr val="111111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5700" b="0">
                <a:solidFill>
                  <a:srgbClr val="111111"/>
                </a:solidFill>
                <a:latin typeface="Noto Sans CJK TC"/>
                <a:ea typeface="Noto Sans CJK TC"/>
                <a:cs typeface="Noto Sans CJK TC"/>
              </a:rPr>
              <a:t>模型與計算驗證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37905E10-04F2-4FF8-867C-8D2CF8989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7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11111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0">
                <a:solidFill>
                  <a:srgbClr val="111111"/>
                </a:solidFill>
                <a:latin typeface="Noto Sans CJK TC"/>
                <a:ea typeface="Noto Sans CJK TC"/>
                <a:cs typeface="Noto Sans CJK TC"/>
              </a:rPr>
              <a:t>固定假設下的獨立重算、守恆與金額對帳</a:t>
            </a:r>
          </a:p>
          <a:p xmlns:a="http://schemas.openxmlformats.org/drawingml/2006/main">
            <a:pPr algn="l">
              <a:defRPr sz="2250" b="0">
                <a:solidFill>
                  <a:srgbClr val="111111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0">
                <a:solidFill>
                  <a:srgbClr val="111111"/>
                </a:solidFill>
                <a:latin typeface="Noto Sans CJK TC"/>
                <a:ea typeface="Noto Sans CJK TC"/>
                <a:cs typeface="Noto Sans CJK TC"/>
              </a:rPr>
              <a:t>2026 年 9 月 8 日</a:t>
            </a:r>
          </a:p>
        </p:txBody>
      </p:sp>
    </p:spTree>
    <p:extLst>
      <p:ext uri="{BB962C8B-B14F-4D97-AF65-F5344CB8AC3E}">
        <p14:creationId xmlns:p14="http://schemas.microsoft.com/office/powerpoint/2010/main" val="7191196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8644817-1A74-405E-9173-D1C6B6BBE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1277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111111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600" b="0">
                <a:solidFill>
                  <a:srgbClr val="111111"/>
                </a:solidFill>
                <a:latin typeface="Noto Sans CJK TC"/>
                <a:ea typeface="Noto Sans CJK TC"/>
                <a:cs typeface="Noto Sans CJK TC"/>
              </a:rPr>
              <a:t>受測案例可重算，實際獲利仍待校準</a:t>
            </a:r>
          </a:p>
        </p:txBody>
      </p:sp>
      <p:sp>
        <p:nvSpPr>
          <p:cNvPr id="2" name="slide-intro">
            <a:extLst xmlns:a="http://schemas.openxmlformats.org/drawingml/2006/main">
              <a:ext uri="{FF2B5EF4-FFF2-40B4-BE49-F238E27FC236}">
                <a16:creationId xmlns:a16="http://schemas.microsoft.com/office/drawing/2014/main" id="{34F5AD52-D178-4617-A8EB-676967A29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33475"/>
            <a:ext cx="11277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55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555B65"/>
                </a:solidFill>
                <a:latin typeface="Noto Sans CJK TC"/>
                <a:ea typeface="Noto Sans CJK TC"/>
                <a:cs typeface="Noto Sans CJK TC"/>
              </a:rPr>
              <a:t>3、4、5 日三組合成案例；不代表已窮盡全部 1–31 日情境。</a:t>
            </a:r>
          </a:p>
        </p:txBody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B1F9DA2E-AA70-4DDD-BBEB-F1DEDA69C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0325"/>
            <a:ext cx="904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555B65"/>
                </a:solidFill>
                <a:latin typeface="Noto Sans CJK TC"/>
                <a:ea typeface="Noto Sans CJK TC"/>
                <a:cs typeface="Noto Sans CJK TC"/>
              </a:rPr>
              <a:t>HIGHWAY SWAP SIM  /  模型驗證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567BC72D-AAC7-4BD3-9391-305C19BC8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817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555B65"/>
                </a:solidFill>
                <a:latin typeface="Noto Sans CJK TC"/>
                <a:ea typeface="Noto Sans CJK TC"/>
                <a:cs typeface="Noto Sans CJK TC"/>
              </a:rPr>
              <a:t>02</a:t>
            </a:r>
          </a:p>
        </p:txBody>
      </p:sp>
      <p:sp>
        <p:nvSpPr>
          <p:cNvPr id="5" name="left-heading">
            <a:extLst xmlns:a="http://schemas.openxmlformats.org/drawingml/2006/main">
              <a:ext uri="{FF2B5EF4-FFF2-40B4-BE49-F238E27FC236}">
                <a16:creationId xmlns:a16="http://schemas.microsoft.com/office/drawing/2014/main" id="{6439D652-C72B-4743-8199-AB93EB4C8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28825"/>
            <a:ext cx="5391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111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50" b="1">
                <a:solidFill>
                  <a:srgbClr val="111111"/>
                </a:solidFill>
                <a:latin typeface="Noto Sans CJK TC"/>
                <a:ea typeface="Noto Sans CJK TC"/>
                <a:cs typeface="Noto Sans CJK TC"/>
              </a:rPr>
              <a:t>本輪驗證涵蓋</a:t>
            </a:r>
          </a:p>
        </p:txBody>
      </p:sp>
      <p:sp>
        <p:nvSpPr>
          <p:cNvPr id="6" name="left-body">
            <a:extLst xmlns:a="http://schemas.openxmlformats.org/drawingml/2006/main">
              <a:ext uri="{FF2B5EF4-FFF2-40B4-BE49-F238E27FC236}">
                <a16:creationId xmlns:a16="http://schemas.microsoft.com/office/drawing/2014/main" id="{A5580062-3A37-4A52-B18B-AC90F453E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0"/>
            <a:ext cx="5391150" cy="3105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0">
                <a:solidFill>
                  <a:srgbClr val="111111"/>
                </a:solidFill>
                <a:latin typeface="Noto Sans CJK TC"/>
                <a:ea typeface="Noto Sans CJK TC"/>
                <a:cs typeface="Noto Sans CJK TC"/>
              </a:rPr>
              <a:t>47,489 項解析比較通過</a:t>
            </a:r>
          </a:p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0">
                <a:solidFill>
                  <a:srgbClr val="111111"/>
                </a:solidFill>
                <a:latin typeface="Noto Sans CJK TC"/>
                <a:ea typeface="Noto Sans CJK TC"/>
                <a:cs typeface="Noto Sans CJK TC"/>
              </a:rPr>
              <a:t>3 組案例逐日、逐時對照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0">
                <a:solidFill>
                  <a:srgbClr val="111111"/>
                </a:solidFill>
                <a:latin typeface="Noto Sans CJK TC"/>
                <a:ea typeface="Noto Sans CJK TC"/>
                <a:cs typeface="Noto Sans CJK TC"/>
              </a:rPr>
              <a:t>電量按宣告容差比較</a:t>
            </a:r>
          </a:p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0">
                <a:solidFill>
                  <a:srgbClr val="111111"/>
                </a:solidFill>
                <a:latin typeface="Noto Sans CJK TC"/>
                <a:ea typeface="Noto Sans CJK TC"/>
                <a:cs typeface="Noto Sans CJK TC"/>
              </a:rPr>
              <a:t>已結算金額逐分核對</a:t>
            </a:r>
          </a:p>
        </p:txBody>
      </p:sp>
      <p:sp>
        <p:nvSpPr>
          <p:cNvPr id="7" name="right-heading">
            <a:extLst xmlns:a="http://schemas.openxmlformats.org/drawingml/2006/main">
              <a:ext uri="{FF2B5EF4-FFF2-40B4-BE49-F238E27FC236}">
                <a16:creationId xmlns:a16="http://schemas.microsoft.com/office/drawing/2014/main" id="{77FE9150-E39B-49A0-BA45-138CAE982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28825"/>
            <a:ext cx="5410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111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50" b="1">
                <a:solidFill>
                  <a:srgbClr val="111111"/>
                </a:solidFill>
                <a:latin typeface="Noto Sans CJK TC"/>
                <a:ea typeface="Noto Sans CJK TC"/>
                <a:cs typeface="Noto Sans CJK TC"/>
              </a:rPr>
              <a:t>結論適用範圍</a:t>
            </a:r>
          </a:p>
        </p:txBody>
      </p:sp>
      <p:sp>
        <p:nvSpPr>
          <p:cNvPr id="8" name="right-body">
            <a:extLst xmlns:a="http://schemas.openxmlformats.org/drawingml/2006/main">
              <a:ext uri="{FF2B5EF4-FFF2-40B4-BE49-F238E27FC236}">
                <a16:creationId xmlns:a16="http://schemas.microsoft.com/office/drawing/2014/main" id="{43A5B2FE-8731-4314-8E6F-899634EEA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67000"/>
            <a:ext cx="5410200" cy="3105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0">
                <a:solidFill>
                  <a:srgbClr val="111111"/>
                </a:solidFill>
                <a:latin typeface="Noto Sans CJK TC"/>
                <a:ea typeface="Noto Sans CJK TC"/>
                <a:cs typeface="Noto Sans CJK TC"/>
              </a:rPr>
              <a:t>固定版本、輸入與捨入規則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0">
                <a:solidFill>
                  <a:srgbClr val="111111"/>
                </a:solidFill>
                <a:latin typeface="Noto Sans CJK TC"/>
                <a:ea typeface="Noto Sans CJK TC"/>
                <a:cs typeface="Noto Sans CJK TC"/>
              </a:rPr>
              <a:t>支持受測案例的實作一致性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0">
                <a:solidFill>
                  <a:srgbClr val="111111"/>
                </a:solidFill>
                <a:latin typeface="Noto Sans CJK TC"/>
                <a:ea typeface="Noto Sans CJK TC"/>
                <a:cs typeface="Noto Sans CJK TC"/>
              </a:rPr>
              <a:t>真實需求、設備與獲利需實測</a:t>
            </a:r>
          </a:p>
        </p:txBody>
      </p:sp>
    </p:spTree>
    <p:extLst>
      <p:ext uri="{BB962C8B-B14F-4D97-AF65-F5344CB8AC3E}">
        <p14:creationId xmlns:p14="http://schemas.microsoft.com/office/powerpoint/2010/main" val="39321649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68ED3E5-CA21-4C66-8506-C535DDB8C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1277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111111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600" b="0">
                <a:solidFill>
                  <a:srgbClr val="111111"/>
                </a:solidFill>
                <a:latin typeface="Noto Sans CJK TC"/>
                <a:ea typeface="Noto Sans CJK TC"/>
                <a:cs typeface="Noto Sans CJK TC"/>
              </a:rPr>
              <a:t>跨日狀態、物理事件與金額各有邊界</a:t>
            </a:r>
          </a:p>
        </p:txBody>
      </p:sp>
      <p:sp>
        <p:nvSpPr>
          <p:cNvPr id="2" name="slide-intro">
            <a:extLst xmlns:a="http://schemas.openxmlformats.org/drawingml/2006/main">
              <a:ext uri="{FF2B5EF4-FFF2-40B4-BE49-F238E27FC236}">
                <a16:creationId xmlns:a16="http://schemas.microsoft.com/office/drawing/2014/main" id="{F09B4C19-941F-44FB-9558-A1D8FF02F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33475"/>
            <a:ext cx="11277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55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555B65"/>
                </a:solidFill>
                <a:latin typeface="Noto Sans CJK TC"/>
                <a:ea typeface="Noto Sans CJK TC"/>
                <a:cs typeface="Noto Sans CJK TC"/>
              </a:rPr>
              <a:t>同一條事件時間軸，連接狀態更新、能源帳本及外部交易。</a:t>
            </a:r>
          </a:p>
        </p:txBody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21B3030D-9B31-420E-B111-328CFE66E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0325"/>
            <a:ext cx="904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555B65"/>
                </a:solidFill>
                <a:latin typeface="Noto Sans CJK TC"/>
                <a:ea typeface="Noto Sans CJK TC"/>
                <a:cs typeface="Noto Sans CJK TC"/>
              </a:rPr>
              <a:t>HIGHWAY SWAP SIM  /  模型驗證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7FF694F8-AC0A-4AC2-A9A4-9D7C0DDB4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817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555B65"/>
                </a:solidFill>
                <a:latin typeface="Noto Sans CJK TC"/>
                <a:ea typeface="Noto Sans CJK TC"/>
                <a:cs typeface="Noto Sans CJK TC"/>
              </a:rPr>
              <a:t>03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457200" y="2038350"/>
          <a:ext xmlns:a="http://schemas.openxmlformats.org/drawingml/2006/main" cx="11277600" cy="3943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76375"/>
                <a:gridCol w="5334000"/>
                <a:gridCol w="4467225"/>
              </a:tblGrid>
              <a:tr h="657225"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層級</a:t>
                      </a:r>
                    </a:p>
                  </a:txBody>
                  <a:tcPr marL="114300" marR="114300" marT="47625" marB="47625" anchor="ctr">
                    <a:solidFill>
                      <a:srgbClr val="EDEDED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本版處理</a:t>
                      </a:r>
                    </a:p>
                  </a:txBody>
                  <a:tcPr marL="114300" marR="114300" marT="47625" marB="47625" anchor="ctr">
                    <a:solidFill>
                      <a:srgbClr val="EDEDED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需核對的邊界</a:t>
                      </a:r>
                    </a:p>
                  </a:txBody>
                  <a:tcPr marL="114300" marR="114300" marT="47625" marB="47625" anchor="ctr">
                    <a:solidFill>
                      <a:srgbClr val="EDEDED"/>
                    </a:solidFill>
                  </a:tcPr>
                </a:tc>
              </a:tr>
              <a:tr h="657225"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狀態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庫存、佇列及進行中服務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跨日延續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前日收盤＝次日開盤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</a:tr>
              <a:tr h="657225"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事件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到站、充電／換電完成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設備上下線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按實際事件時點步進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</a:tr>
              <a:tr h="657225"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物理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逐時節點、連線與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來源電表能源帳本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功率上限、損失及輔機供電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</a:tr>
              <a:tr h="657225"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交易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到站鎖定零售價；電網按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實際來源與時段取價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內部轉移不形成收入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</a:tr>
              <a:tr h="657225"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投資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代表日外推；庫存缺口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阻止投資預測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外生假設及完整成本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312387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6CD6A47-538B-4CF6-9DF7-B47FA77FE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1277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111111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600" b="0">
                <a:solidFill>
                  <a:srgbClr val="111111"/>
                </a:solidFill>
                <a:latin typeface="Noto Sans CJK TC"/>
                <a:ea typeface="Noto Sans CJK TC"/>
                <a:cs typeface="Noto Sans CJK TC"/>
              </a:rPr>
              <a:t>舊版缺口涉及物理約束與投資判斷</a:t>
            </a:r>
          </a:p>
        </p:txBody>
      </p:sp>
      <p:sp>
        <p:nvSpPr>
          <p:cNvPr id="2" name="slide-intro">
            <a:extLst xmlns:a="http://schemas.openxmlformats.org/drawingml/2006/main">
              <a:ext uri="{FF2B5EF4-FFF2-40B4-BE49-F238E27FC236}">
                <a16:creationId xmlns:a16="http://schemas.microsoft.com/office/drawing/2014/main" id="{B5DB7197-1474-4AE2-BDD8-8289BCD62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33475"/>
            <a:ext cx="11277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55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555B65"/>
                </a:solidFill>
                <a:latin typeface="Noto Sans CJK TC"/>
                <a:ea typeface="Noto Sans CJK TC"/>
                <a:cs typeface="Noto Sans CJK TC"/>
              </a:rPr>
              <a:t>總體能量平衡成立，仍不足以保證事件時點、設備能力或財務輸出正確。</a:t>
            </a:r>
          </a:p>
        </p:txBody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82163D78-4B41-4BD4-B56F-2814A181F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0325"/>
            <a:ext cx="904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555B65"/>
                </a:solidFill>
                <a:latin typeface="Noto Sans CJK TC"/>
                <a:ea typeface="Noto Sans CJK TC"/>
                <a:cs typeface="Noto Sans CJK TC"/>
              </a:rPr>
              <a:t>HIGHWAY SWAP SIM  /  模型驗證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97CA8281-D04C-4839-9100-78D25C8F8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817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555B65"/>
                </a:solidFill>
                <a:latin typeface="Noto Sans CJK TC"/>
                <a:ea typeface="Noto Sans CJK TC"/>
                <a:cs typeface="Noto Sans CJK TC"/>
              </a:rPr>
              <a:t>04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457200" y="2038350"/>
          <a:ext xmlns:a="http://schemas.openxmlformats.org/drawingml/2006/main" cx="11277600" cy="3943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81375"/>
                <a:gridCol w="3457575"/>
                <a:gridCol w="4438650"/>
              </a:tblGrid>
              <a:tr h="657225"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原問題</a:t>
                      </a:r>
                    </a:p>
                  </a:txBody>
                  <a:tcPr marL="114300" marR="114300" marT="47625" marB="47625" anchor="ctr">
                    <a:solidFill>
                      <a:srgbClr val="EDEDED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可能後果</a:t>
                      </a:r>
                    </a:p>
                  </a:txBody>
                  <a:tcPr marL="114300" marR="114300" marT="47625" marB="47625" anchor="ctr">
                    <a:solidFill>
                      <a:srgbClr val="EDEDED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本輪修正</a:t>
                      </a:r>
                    </a:p>
                  </a:txBody>
                  <a:tcPr marL="114300" marR="114300" marT="47625" marB="47625" anchor="ctr">
                    <a:solidFill>
                      <a:srgbClr val="EDEDED"/>
                    </a:solidFill>
                  </a:tcPr>
                </a:tc>
              </a:tr>
              <a:tr h="657225"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24 小時重置滿電庫存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跨日重複使用期初能量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連續狀態與期末庫存揭露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</a:tr>
              <a:tr h="657225"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輔機斷電未聯鎖；</a:t>
                      </a:r>
                    </a:p>
                    <a:p>
                      <a:pPr algn="l"/>
                      <a:r>
                        <a:rPr sz="1725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完成事件不精確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中斷仍服務；</a:t>
                      </a:r>
                    </a:p>
                    <a:p>
                      <a:pPr algn="l"/>
                      <a:r>
                        <a:rPr sz="1725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錯跨電價時段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暫停／阻擋與精確事件步進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</a:tr>
              <a:tr h="657225"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拓撲與額定邊界不足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旁路、並聯或損耗</a:t>
                      </a:r>
                    </a:p>
                    <a:p>
                      <a:pPr algn="l"/>
                      <a:r>
                        <a:rPr sz="1725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計入錯誤位置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拓撲規則與元件邊界檢查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</a:tr>
              <a:tr h="657225"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缺少元件及來源明細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總額無法定位</a:t>
                      </a:r>
                    </a:p>
                    <a:p>
                      <a:pPr algn="l"/>
                      <a:r>
                        <a:rPr sz="1725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內部違反約束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節點、連線及來源電表帳本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</a:tr>
              <a:tr h="657225"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IRR、固定輔機費</a:t>
                      </a:r>
                    </a:p>
                    <a:p>
                      <a:pPr algn="l"/>
                      <a:r>
                        <a:rPr sz="1725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及參數快照錯置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投資報酬偏差；</a:t>
                      </a:r>
                    </a:p>
                    <a:p>
                      <a:pPr algn="l"/>
                      <a:r>
                        <a:rPr sz="1725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草稿與舊結果混用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穩定求根、固定費不縮放</a:t>
                      </a:r>
                    </a:p>
                    <a:p>
                      <a:pPr algn="l"/>
                      <a:r>
                        <a:rPr sz="1725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僅使用結果參數快照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702925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C5861FB-8D09-4317-95B3-3ACA73BCB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1277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111111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600" b="0">
                <a:solidFill>
                  <a:srgbClr val="111111"/>
                </a:solidFill>
                <a:latin typeface="Noto Sans CJK TC"/>
                <a:ea typeface="Noto Sans CJK TC"/>
                <a:cs typeface="Noto Sans CJK TC"/>
              </a:rPr>
              <a:t>獨立重算同時檢查方程、時間與結算</a:t>
            </a:r>
          </a:p>
        </p:txBody>
      </p:sp>
      <p:sp>
        <p:nvSpPr>
          <p:cNvPr id="2" name="slide-intro">
            <a:extLst xmlns:a="http://schemas.openxmlformats.org/drawingml/2006/main">
              <a:ext uri="{FF2B5EF4-FFF2-40B4-BE49-F238E27FC236}">
                <a16:creationId xmlns:a16="http://schemas.microsoft.com/office/drawing/2014/main" id="{91223DED-9E48-4882-85B8-406EB5B3F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33475"/>
            <a:ext cx="11277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55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555B65"/>
                </a:solidFill>
                <a:latin typeface="Noto Sans CJK TC"/>
                <a:ea typeface="Noto Sans CJK TC"/>
                <a:cs typeface="Noto Sans CJK TC"/>
              </a:rPr>
              <a:t>以解析區間積分重建基準，不調用模擬器、功率分配器或帳單函式。</a:t>
            </a:r>
          </a:p>
        </p:txBody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84CF4EE3-9379-4C53-90A5-F5FC3CC9C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0325"/>
            <a:ext cx="904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555B65"/>
                </a:solidFill>
                <a:latin typeface="Noto Sans CJK TC"/>
                <a:ea typeface="Noto Sans CJK TC"/>
                <a:cs typeface="Noto Sans CJK TC"/>
              </a:rPr>
              <a:t>HIGHWAY SWAP SIM  /  模型驗證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EBDF088A-549D-45F8-9DD2-F907F6933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817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555B65"/>
                </a:solidFill>
                <a:latin typeface="Noto Sans CJK TC"/>
                <a:ea typeface="Noto Sans CJK TC"/>
                <a:cs typeface="Noto Sans CJK TC"/>
              </a:rPr>
              <a:t>05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4C85BD39-2EB9-47E5-94A9-F7399BF09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38350"/>
            <a:ext cx="5410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111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50" b="1">
                <a:solidFill>
                  <a:srgbClr val="111111"/>
                </a:solidFill>
                <a:latin typeface="Noto Sans CJK TC"/>
                <a:ea typeface="Noto Sans CJK TC"/>
                <a:cs typeface="Noto Sans CJK TC"/>
              </a:rPr>
              <a:t>V01／V03：SST 路徑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4B018D2A-076F-4754-94C9-35F1B0DAB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86050"/>
            <a:ext cx="5410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0">
                <a:solidFill>
                  <a:srgbClr val="111111"/>
                </a:solidFill>
                <a:latin typeface="Noto Sans CJK TC"/>
                <a:ea typeface="Noto Sans CJK TC"/>
                <a:cs typeface="Noto Sans CJK TC"/>
              </a:rPr>
              <a:t>E網 = E電池 ÷ (0.98 × 0.95)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774B43AC-5D59-4877-A721-8124A188F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90925"/>
            <a:ext cx="5410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111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50" b="1">
                <a:solidFill>
                  <a:srgbClr val="111111"/>
                </a:solidFill>
                <a:latin typeface="Noto Sans CJK TC"/>
                <a:ea typeface="Noto Sans CJK TC"/>
                <a:cs typeface="Noto Sans CJK TC"/>
              </a:rPr>
              <a:t>V02：PCS 與 AC 分支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F82B74D2-934C-44D2-952A-0775510B2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38625"/>
            <a:ext cx="54102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0">
                <a:solidFill>
                  <a:srgbClr val="111111"/>
                </a:solidFill>
                <a:latin typeface="Noto Sans CJK TC"/>
                <a:ea typeface="Noto Sans CJK TC"/>
                <a:cs typeface="Noto Sans CJK TC"/>
              </a:rPr>
              <a:t>E網 = [E_EV ÷ (0.96 × 0.95)</a:t>
            </a:r>
          </a:p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0">
                <a:solidFill>
                  <a:srgbClr val="111111"/>
                </a:solidFill>
                <a:latin typeface="Noto Sans CJK TC"/>
                <a:ea typeface="Noto Sans CJK TC"/>
                <a:cs typeface="Noto Sans CJK TC"/>
              </a:rPr>
              <a:t>          ＋ E_AC] ÷ 0.98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E4F7E816-9300-43B4-82EA-5D05BA571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34025"/>
            <a:ext cx="5410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55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0">
                <a:solidFill>
                  <a:srgbClr val="555B65"/>
                </a:solidFill>
                <a:latin typeface="Noto Sans CJK TC"/>
                <a:ea typeface="Noto Sans CJK TC"/>
                <a:cs typeface="Noto Sans CJK TC"/>
              </a:rPr>
              <a:t>AC 輔機經變壓器，旁路 PCS／DD。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D36F43F0-087B-4CF5-A0C1-79C8B7020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38350"/>
            <a:ext cx="5410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111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50" b="1">
                <a:solidFill>
                  <a:srgbClr val="111111"/>
                </a:solidFill>
                <a:latin typeface="Noto Sans CJK TC"/>
                <a:ea typeface="Noto Sans CJK TC"/>
                <a:cs typeface="Noto Sans CJK TC"/>
              </a:rPr>
              <a:t>獨立性與會計契約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2FBBE984-789D-44C0-A359-545F385E3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86050"/>
            <a:ext cx="54102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111111"/>
                </a:solidFill>
                <a:latin typeface="Noto Sans CJK TC"/>
                <a:ea typeface="Noto Sans CJK TC"/>
                <a:cs typeface="Noto Sans CJK TC"/>
              </a:rPr>
              <a:t>Python Decimal：70 位精度</a:t>
            </a:r>
          </a:p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111111"/>
                </a:solidFill>
                <a:latin typeface="Noto Sans CJK TC"/>
                <a:ea typeface="Noto Sans CJK TC"/>
                <a:cs typeface="Noto Sans CJK TC"/>
              </a:rPr>
              <a:t>閉式區間積分；完整輸入固定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111111"/>
                </a:solidFill>
                <a:latin typeface="Noto Sans CJK TC"/>
                <a:ea typeface="Noto Sans CJK TC"/>
                <a:cs typeface="Noto Sans CJK TC"/>
              </a:rPr>
              <a:t>數量／價格先到 6 位小數</a:t>
            </a:r>
          </a:p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111111"/>
                </a:solidFill>
                <a:latin typeface="Noto Sans CJK TC"/>
                <a:ea typeface="Noto Sans CJK TC"/>
                <a:cs typeface="Noto Sans CJK TC"/>
              </a:rPr>
              <a:t>發票 HALF_UP 結算至整分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111111"/>
                </a:solidFill>
                <a:latin typeface="Noto Sans CJK TC"/>
                <a:ea typeface="Noto Sans CJK TC"/>
                <a:cs typeface="Noto Sans CJK TC"/>
              </a:rPr>
              <a:t>電網依來源 × 絕對小時計費</a:t>
            </a:r>
          </a:p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111111"/>
                </a:solidFill>
                <a:latin typeface="Noto Sans CJK TC"/>
                <a:ea typeface="Noto Sans CJK TC"/>
                <a:cs typeface="Noto Sans CJK TC"/>
              </a:rPr>
              <a:t>基準日界與入帳規則另經複核</a:t>
            </a:r>
          </a:p>
        </p:txBody>
      </p:sp>
    </p:spTree>
    <p:extLst>
      <p:ext uri="{BB962C8B-B14F-4D97-AF65-F5344CB8AC3E}">
        <p14:creationId xmlns:p14="http://schemas.microsoft.com/office/powerpoint/2010/main" val="123315935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CA3DE9A-FFFB-4B18-9975-402E7B28E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1277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111111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600" b="0">
                <a:solidFill>
                  <a:srgbClr val="111111"/>
                </a:solidFill>
                <a:latin typeface="Noto Sans CJK TC"/>
                <a:ea typeface="Noto Sans CJK TC"/>
                <a:cs typeface="Noto Sans CJK TC"/>
              </a:rPr>
              <a:t>三組合成案例分別隔離關鍵計算機制</a:t>
            </a:r>
          </a:p>
        </p:txBody>
      </p:sp>
      <p:sp>
        <p:nvSpPr>
          <p:cNvPr id="2" name="slide-intro">
            <a:extLst xmlns:a="http://schemas.openxmlformats.org/drawingml/2006/main">
              <a:ext uri="{FF2B5EF4-FFF2-40B4-BE49-F238E27FC236}">
                <a16:creationId xmlns:a16="http://schemas.microsoft.com/office/drawing/2014/main" id="{887A2680-AE48-46D8-8573-F92BE341F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33475"/>
            <a:ext cx="11277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55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555B65"/>
                </a:solidFill>
                <a:latin typeface="Noto Sans CJK TC"/>
                <a:ea typeface="Noto Sans CJK TC"/>
                <a:cs typeface="Noto Sans CJK TC"/>
              </a:rPr>
              <a:t>固定／變動營運成本皆設為 0，CAPEX 未設定；V01、V03 的零輔機是刻意簡化。</a:t>
            </a:r>
          </a:p>
        </p:txBody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DA614D1D-B70A-41BD-8D00-F69C893FC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0325"/>
            <a:ext cx="904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555B65"/>
                </a:solidFill>
                <a:latin typeface="Noto Sans CJK TC"/>
                <a:ea typeface="Noto Sans CJK TC"/>
                <a:cs typeface="Noto Sans CJK TC"/>
              </a:rPr>
              <a:t>HIGHWAY SWAP SIM  /  模型驗證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35710E73-362C-431B-9C46-BFA18FD29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817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555B65"/>
                </a:solidFill>
                <a:latin typeface="Noto Sans CJK TC"/>
                <a:ea typeface="Noto Sans CJK TC"/>
                <a:cs typeface="Noto Sans CJK TC"/>
              </a:rPr>
              <a:t>06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457200" y="2038350"/>
          <a:ext xmlns:a="http://schemas.openxmlformats.org/drawingml/2006/main" cx="11277600" cy="3943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62150"/>
                <a:gridCol w="3105150"/>
                <a:gridCol w="3105150"/>
                <a:gridCol w="3105150"/>
              </a:tblGrid>
              <a:tr h="657225"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案例條件</a:t>
                      </a:r>
                    </a:p>
                  </a:txBody>
                  <a:tcPr marL="114300" marR="114300" marT="47625" marB="47625" anchor="ctr">
                    <a:solidFill>
                      <a:srgbClr val="EDEDED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V01｜SST 換電</a:t>
                      </a:r>
                    </a:p>
                  </a:txBody>
                  <a:tcPr marL="114300" marR="114300" marT="47625" marB="47625" anchor="ctr">
                    <a:solidFill>
                      <a:srgbClr val="EDEDED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V02｜PCS＋AC＋EV</a:t>
                      </a:r>
                    </a:p>
                  </a:txBody>
                  <a:tcPr marL="114300" marR="114300" marT="47625" marB="47625" anchor="ctr">
                    <a:solidFill>
                      <a:srgbClr val="EDEDED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V03｜跨站停機</a:t>
                      </a:r>
                    </a:p>
                  </a:txBody>
                  <a:tcPr marL="114300" marR="114300" marT="47625" marB="47625" anchor="ctr">
                    <a:solidFill>
                      <a:srgbClr val="EDEDED"/>
                    </a:solidFill>
                  </a:tcPr>
                </a:tc>
              </a:tr>
              <a:tr h="657225"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期間與服務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3 日；每日每站</a:t>
                      </a:r>
                    </a:p>
                    <a:p>
                      <a:pPr algn="l"/>
                      <a:r>
                        <a:rPr sz="165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1 次 100 kWh 換電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4 日；每日每站</a:t>
                      </a:r>
                    </a:p>
                    <a:p>
                      <a:pPr algn="l"/>
                      <a:r>
                        <a:rPr sz="165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1 次 100 kWh 充電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5 日；每日 23:00</a:t>
                      </a:r>
                    </a:p>
                    <a:p>
                      <a:pPr algn="l"/>
                      <a:r>
                        <a:rPr sz="165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每站到站換電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</a:tr>
              <a:tr h="657225"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電力路徑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各站 grid → SST</a:t>
                      </a:r>
                    </a:p>
                    <a:p>
                      <a:pPr algn="l"/>
                      <a:r>
                        <a:rPr sz="165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→ DD → 電池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grid → 變壓器</a:t>
                      </a:r>
                    </a:p>
                    <a:p>
                      <a:pPr algn="l"/>
                      <a:r>
                        <a:rPr sz="165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→ PCS → DD → EV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僅 A-grid 供兩站</a:t>
                      </a:r>
                    </a:p>
                    <a:p>
                      <a:pPr algn="l"/>
                      <a:r>
                        <a:rPr sz="165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DC 連線傳遞至 B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</a:tr>
              <a:tr h="657225"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輔機負載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0 kW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每站 AC 10 kW</a:t>
                      </a:r>
                    </a:p>
                    <a:p>
                      <a:pPr algn="l"/>
                      <a:r>
                        <a:rPr sz="165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全天持續供應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0 kW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</a:tr>
              <a:tr h="657225"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購電與零售價</a:t>
                      </a:r>
                    </a:p>
                    <a:p>
                      <a:pPr algn="l"/>
                      <a:r>
                        <a:rPr sz="165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(CNY/kWh)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購電 0.50</a:t>
                      </a:r>
                    </a:p>
                    <a:p>
                      <a:pPr algn="l"/>
                      <a:r>
                        <a:rPr sz="165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零售 0.80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購電每日 0.40–0.70</a:t>
                      </a:r>
                    </a:p>
                    <a:p>
                      <a:pPr algn="l"/>
                      <a:r>
                        <a:rPr sz="165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零售加 0.30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A 購電 0.40–0.80</a:t>
                      </a:r>
                    </a:p>
                    <a:p>
                      <a:pPr algn="l"/>
                      <a:r>
                        <a:rPr sz="165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B 零售 1.20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</a:tr>
              <a:tr h="657225"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主要辨識能力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跨日庫存補回</a:t>
                      </a:r>
                    </a:p>
                    <a:p>
                      <a:pPr algn="l"/>
                      <a:r>
                        <a:rPr sz="165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SST／DD 損耗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固定輔機負擔</a:t>
                      </a:r>
                    </a:p>
                    <a:p>
                      <a:pPr algn="l"/>
                      <a:r>
                        <a:rPr sz="165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多段轉換與每日價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第 2–3 日斷電</a:t>
                      </a:r>
                    </a:p>
                    <a:p>
                      <a:pPr algn="l"/>
                      <a:r>
                        <a:rPr sz="165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佇列、來源價與庫存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2512075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EAA1303-3EF9-4A79-B85D-99F14886D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1277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111111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600" b="0">
                <a:solidFill>
                  <a:srgbClr val="111111"/>
                </a:solidFill>
                <a:latin typeface="Noto Sans CJK TC"/>
                <a:ea typeface="Noto Sans CJK TC"/>
                <a:cs typeface="Noto Sans CJK TC"/>
              </a:rPr>
              <a:t>V01｜跨日庫存補回，三天逐日一致</a:t>
            </a:r>
          </a:p>
        </p:txBody>
      </p:sp>
      <p:sp>
        <p:nvSpPr>
          <p:cNvPr id="2" name="slide-intro">
            <a:extLst xmlns:a="http://schemas.openxmlformats.org/drawingml/2006/main">
              <a:ext uri="{FF2B5EF4-FFF2-40B4-BE49-F238E27FC236}">
                <a16:creationId xmlns:a16="http://schemas.microsoft.com/office/drawing/2014/main" id="{385C3309-7126-4ED0-A605-F4454D6A1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33475"/>
            <a:ext cx="11277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55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555B65"/>
                </a:solidFill>
                <a:latin typeface="Noto Sans CJK TC"/>
                <a:ea typeface="Noto Sans CJK TC"/>
                <a:cs typeface="Noto Sans CJK TC"/>
              </a:rPr>
              <a:t>每格上行為程式、下行為獨立 Decimal；電量 kWh，金額 CNY。</a:t>
            </a:r>
          </a:p>
        </p:txBody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27B77659-CD95-4116-AFCE-2FEFE2BE5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0325"/>
            <a:ext cx="904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555B65"/>
                </a:solidFill>
                <a:latin typeface="Noto Sans CJK TC"/>
                <a:ea typeface="Noto Sans CJK TC"/>
                <a:cs typeface="Noto Sans CJK TC"/>
              </a:rPr>
              <a:t>HIGHWAY SWAP SIM  /  模型驗證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2EE4C312-B8A9-4857-9F5B-7B9FE991D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817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555B65"/>
                </a:solidFill>
                <a:latin typeface="Noto Sans CJK TC"/>
                <a:ea typeface="Noto Sans CJK TC"/>
                <a:cs typeface="Noto Sans CJK TC"/>
              </a:rPr>
              <a:t>07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457200" y="2076450"/>
          <a:ext xmlns:a="http://schemas.openxmlformats.org/drawingml/2006/main" cx="11277600" cy="3790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742950"/>
                <a:gridCol w="2838450"/>
                <a:gridCol w="2838450"/>
                <a:gridCol w="2428875"/>
                <a:gridCol w="2428875"/>
              </a:tblGrid>
              <a:tr h="947738"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日</a:t>
                      </a:r>
                    </a:p>
                  </a:txBody>
                  <a:tcPr marL="114300" marR="114300" marT="47625" marB="47625" anchor="ctr">
                    <a:solidFill>
                      <a:srgbClr val="EDEDED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r"/>
                      <a:r>
                        <a:rPr sz="1650" b="1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客戶交付</a:t>
                      </a:r>
                    </a:p>
                    <a:p>
                      <a:pPr algn="r"/>
                      <a:r>
                        <a:rPr sz="1650" b="1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程式 / 獨立</a:t>
                      </a:r>
                    </a:p>
                  </a:txBody>
                  <a:tcPr marL="114300" marR="114300" marT="47625" marB="47625" anchor="ctr">
                    <a:solidFill>
                      <a:srgbClr val="EDEDED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r"/>
                      <a:r>
                        <a:rPr sz="1650" b="1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電網購入</a:t>
                      </a:r>
                    </a:p>
                    <a:p>
                      <a:pPr algn="r"/>
                      <a:r>
                        <a:rPr sz="1650" b="1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程式 / 獨立</a:t>
                      </a:r>
                    </a:p>
                  </a:txBody>
                  <a:tcPr marL="114300" marR="114300" marT="47625" marB="47625" anchor="ctr">
                    <a:solidFill>
                      <a:srgbClr val="EDEDED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r"/>
                      <a:r>
                        <a:rPr sz="1650" b="1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結算收入</a:t>
                      </a:r>
                    </a:p>
                    <a:p>
                      <a:pPr algn="r"/>
                      <a:r>
                        <a:rPr sz="1650" b="1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程式 / 獨立</a:t>
                      </a:r>
                    </a:p>
                  </a:txBody>
                  <a:tcPr marL="114300" marR="114300" marT="47625" marB="47625" anchor="ctr">
                    <a:solidFill>
                      <a:srgbClr val="EDEDED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r"/>
                      <a:r>
                        <a:rPr sz="1650" b="1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電網支付</a:t>
                      </a:r>
                    </a:p>
                    <a:p>
                      <a:pPr algn="r"/>
                      <a:r>
                        <a:rPr sz="1650" b="1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程式 / 獨立</a:t>
                      </a:r>
                    </a:p>
                  </a:txBody>
                  <a:tcPr marL="114300" marR="114300" marT="47625" marB="47625" anchor="ctr">
                    <a:solidFill>
                      <a:srgbClr val="EDEDED"/>
                    </a:solidFill>
                  </a:tcPr>
                </a:tc>
              </a:tr>
              <a:tr h="947738"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D1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r"/>
                      <a:r>
                        <a:rPr sz="165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200.000000</a:t>
                      </a:r>
                    </a:p>
                    <a:p>
                      <a:pPr algn="r"/>
                      <a:r>
                        <a:rPr sz="165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200.000000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r"/>
                      <a:r>
                        <a:rPr sz="165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214.822771</a:t>
                      </a:r>
                    </a:p>
                    <a:p>
                      <a:pPr algn="r"/>
                      <a:r>
                        <a:rPr sz="165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214.822771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r"/>
                      <a:r>
                        <a:rPr sz="165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160.00</a:t>
                      </a:r>
                    </a:p>
                    <a:p>
                      <a:pPr algn="r"/>
                      <a:r>
                        <a:rPr sz="165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160.00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r"/>
                      <a:r>
                        <a:rPr sz="165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107.42</a:t>
                      </a:r>
                    </a:p>
                    <a:p>
                      <a:pPr algn="r"/>
                      <a:r>
                        <a:rPr sz="165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107.42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</a:tr>
              <a:tr h="947738"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D2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r"/>
                      <a:r>
                        <a:rPr sz="165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200.000000</a:t>
                      </a:r>
                    </a:p>
                    <a:p>
                      <a:pPr algn="r"/>
                      <a:r>
                        <a:rPr sz="165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200.000000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r"/>
                      <a:r>
                        <a:rPr sz="165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214.822771</a:t>
                      </a:r>
                    </a:p>
                    <a:p>
                      <a:pPr algn="r"/>
                      <a:r>
                        <a:rPr sz="165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214.822771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r"/>
                      <a:r>
                        <a:rPr sz="165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160.00</a:t>
                      </a:r>
                    </a:p>
                    <a:p>
                      <a:pPr algn="r"/>
                      <a:r>
                        <a:rPr sz="165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160.00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r"/>
                      <a:r>
                        <a:rPr sz="165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107.42</a:t>
                      </a:r>
                    </a:p>
                    <a:p>
                      <a:pPr algn="r"/>
                      <a:r>
                        <a:rPr sz="165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107.42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</a:tr>
              <a:tr h="947738"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D3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r"/>
                      <a:r>
                        <a:rPr sz="165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200.000000</a:t>
                      </a:r>
                    </a:p>
                    <a:p>
                      <a:pPr algn="r"/>
                      <a:r>
                        <a:rPr sz="165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200.000000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r"/>
                      <a:r>
                        <a:rPr sz="165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214.822771</a:t>
                      </a:r>
                    </a:p>
                    <a:p>
                      <a:pPr algn="r"/>
                      <a:r>
                        <a:rPr sz="165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214.822771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r"/>
                      <a:r>
                        <a:rPr sz="165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160.00</a:t>
                      </a:r>
                    </a:p>
                    <a:p>
                      <a:pPr algn="r"/>
                      <a:r>
                        <a:rPr sz="165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160.00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r"/>
                      <a:r>
                        <a:rPr sz="165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107.42</a:t>
                      </a:r>
                    </a:p>
                    <a:p>
                      <a:pPr algn="r"/>
                      <a:r>
                        <a:rPr sz="165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107.42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6D4255FE-A1B8-44CE-88C7-5261965D3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19800"/>
            <a:ext cx="11277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555B65"/>
                </a:solidFill>
                <a:latin typeface="Noto Sans CJK TC"/>
                <a:ea typeface="Noto Sans CJK TC"/>
                <a:cs typeface="Noto Sans CJK TC"/>
              </a:rPr>
              <a:t>金額逐分相同；電量最大差 9.09e-13 kWh。展示 6 位小數，判定用未截短值。</a:t>
            </a:r>
          </a:p>
        </p:txBody>
      </p:sp>
    </p:spTree>
    <p:extLst>
      <p:ext uri="{BB962C8B-B14F-4D97-AF65-F5344CB8AC3E}">
        <p14:creationId xmlns:p14="http://schemas.microsoft.com/office/powerpoint/2010/main" val="207938948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63E9A07-B9D0-4C61-A71F-5536FD577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1277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111111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600" b="0">
                <a:solidFill>
                  <a:srgbClr val="111111"/>
                </a:solidFill>
                <a:latin typeface="Noto Sans CJK TC"/>
                <a:ea typeface="Noto Sans CJK TC"/>
                <a:cs typeface="Noto Sans CJK TC"/>
              </a:rPr>
              <a:t>V02｜固定輔機成本隨天數持續發生</a:t>
            </a:r>
          </a:p>
        </p:txBody>
      </p:sp>
      <p:sp>
        <p:nvSpPr>
          <p:cNvPr id="2" name="slide-intro">
            <a:extLst xmlns:a="http://schemas.openxmlformats.org/drawingml/2006/main">
              <a:ext uri="{FF2B5EF4-FFF2-40B4-BE49-F238E27FC236}">
                <a16:creationId xmlns:a16="http://schemas.microsoft.com/office/drawing/2014/main" id="{F4B85B8E-805F-43CE-B17F-AC75EA697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33475"/>
            <a:ext cx="11277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55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555B65"/>
                </a:solidFill>
                <a:latin typeface="Noto Sans CJK TC"/>
                <a:ea typeface="Noto Sans CJK TC"/>
                <a:cs typeface="Noto Sans CJK TC"/>
              </a:rPr>
              <a:t>每格上行為程式、下行為獨立 Decimal；電量 kWh，金額 CNY。</a:t>
            </a:r>
          </a:p>
        </p:txBody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A6555386-D5FE-4F33-B0A5-D33B50262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0325"/>
            <a:ext cx="904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555B65"/>
                </a:solidFill>
                <a:latin typeface="Noto Sans CJK TC"/>
                <a:ea typeface="Noto Sans CJK TC"/>
                <a:cs typeface="Noto Sans CJK TC"/>
              </a:rPr>
              <a:t>HIGHWAY SWAP SIM  /  模型驗證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1B3C1267-9CA3-4ECB-8323-5FEFCC6FE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817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555B65"/>
                </a:solidFill>
                <a:latin typeface="Noto Sans CJK TC"/>
                <a:ea typeface="Noto Sans CJK TC"/>
                <a:cs typeface="Noto Sans CJK TC"/>
              </a:rPr>
              <a:t>08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457200" y="2076450"/>
          <a:ext xmlns:a="http://schemas.openxmlformats.org/drawingml/2006/main" cx="11277600" cy="3790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742950"/>
                <a:gridCol w="2838450"/>
                <a:gridCol w="2838450"/>
                <a:gridCol w="2428875"/>
                <a:gridCol w="2428875"/>
              </a:tblGrid>
              <a:tr h="758190"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日</a:t>
                      </a:r>
                    </a:p>
                  </a:txBody>
                  <a:tcPr marL="114300" marR="114300" marT="47625" marB="47625" anchor="ctr">
                    <a:solidFill>
                      <a:srgbClr val="EDEDED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r"/>
                      <a:r>
                        <a:rPr sz="1650" b="1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客戶交付</a:t>
                      </a:r>
                    </a:p>
                    <a:p>
                      <a:pPr algn="r"/>
                      <a:r>
                        <a:rPr sz="1650" b="1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程式 / 獨立</a:t>
                      </a:r>
                    </a:p>
                  </a:txBody>
                  <a:tcPr marL="114300" marR="114300" marT="47625" marB="47625" anchor="ctr">
                    <a:solidFill>
                      <a:srgbClr val="EDEDED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r"/>
                      <a:r>
                        <a:rPr sz="1650" b="1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電網購入</a:t>
                      </a:r>
                    </a:p>
                    <a:p>
                      <a:pPr algn="r"/>
                      <a:r>
                        <a:rPr sz="1650" b="1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程式 / 獨立</a:t>
                      </a:r>
                    </a:p>
                  </a:txBody>
                  <a:tcPr marL="114300" marR="114300" marT="47625" marB="47625" anchor="ctr">
                    <a:solidFill>
                      <a:srgbClr val="EDEDED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r"/>
                      <a:r>
                        <a:rPr sz="1650" b="1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結算收入</a:t>
                      </a:r>
                    </a:p>
                    <a:p>
                      <a:pPr algn="r"/>
                      <a:r>
                        <a:rPr sz="1650" b="1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程式 / 獨立</a:t>
                      </a:r>
                    </a:p>
                  </a:txBody>
                  <a:tcPr marL="114300" marR="114300" marT="47625" marB="47625" anchor="ctr">
                    <a:solidFill>
                      <a:srgbClr val="EDEDED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r"/>
                      <a:r>
                        <a:rPr sz="1650" b="1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電網支付</a:t>
                      </a:r>
                    </a:p>
                    <a:p>
                      <a:pPr algn="r"/>
                      <a:r>
                        <a:rPr sz="1650" b="1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程式 / 獨立</a:t>
                      </a:r>
                    </a:p>
                  </a:txBody>
                  <a:tcPr marL="114300" marR="114300" marT="47625" marB="47625" anchor="ctr">
                    <a:solidFill>
                      <a:srgbClr val="EDEDED"/>
                    </a:solidFill>
                  </a:tcPr>
                </a:tc>
              </a:tr>
              <a:tr h="758190"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D1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r"/>
                      <a:r>
                        <a:rPr sz="165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200.000000</a:t>
                      </a:r>
                    </a:p>
                    <a:p>
                      <a:pPr algn="r"/>
                      <a:r>
                        <a:rPr sz="165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200.000000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r"/>
                      <a:r>
                        <a:rPr sz="165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713.569638</a:t>
                      </a:r>
                    </a:p>
                    <a:p>
                      <a:pPr algn="r"/>
                      <a:r>
                        <a:rPr sz="165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713.569638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r"/>
                      <a:r>
                        <a:rPr sz="165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140.00</a:t>
                      </a:r>
                    </a:p>
                    <a:p>
                      <a:pPr algn="r"/>
                      <a:r>
                        <a:rPr sz="165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140.00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r"/>
                      <a:r>
                        <a:rPr sz="165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285.36</a:t>
                      </a:r>
                    </a:p>
                    <a:p>
                      <a:pPr algn="r"/>
                      <a:r>
                        <a:rPr sz="165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285.36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</a:tr>
              <a:tr h="758190"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D2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r"/>
                      <a:r>
                        <a:rPr sz="165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200.000000</a:t>
                      </a:r>
                    </a:p>
                    <a:p>
                      <a:pPr algn="r"/>
                      <a:r>
                        <a:rPr sz="165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200.000000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r"/>
                      <a:r>
                        <a:rPr sz="165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713.569638</a:t>
                      </a:r>
                    </a:p>
                    <a:p>
                      <a:pPr algn="r"/>
                      <a:r>
                        <a:rPr sz="165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713.569638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r"/>
                      <a:r>
                        <a:rPr sz="165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160.00</a:t>
                      </a:r>
                    </a:p>
                    <a:p>
                      <a:pPr algn="r"/>
                      <a:r>
                        <a:rPr sz="165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160.00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r"/>
                      <a:r>
                        <a:rPr sz="165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356.68</a:t>
                      </a:r>
                    </a:p>
                    <a:p>
                      <a:pPr algn="r"/>
                      <a:r>
                        <a:rPr sz="165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356.68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</a:tr>
              <a:tr h="758190"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D3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r"/>
                      <a:r>
                        <a:rPr sz="165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200.000000</a:t>
                      </a:r>
                    </a:p>
                    <a:p>
                      <a:pPr algn="r"/>
                      <a:r>
                        <a:rPr sz="165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200.000000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r"/>
                      <a:r>
                        <a:rPr sz="165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713.569638</a:t>
                      </a:r>
                    </a:p>
                    <a:p>
                      <a:pPr algn="r"/>
                      <a:r>
                        <a:rPr sz="165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713.569638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r"/>
                      <a:r>
                        <a:rPr sz="165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180.00</a:t>
                      </a:r>
                    </a:p>
                    <a:p>
                      <a:pPr algn="r"/>
                      <a:r>
                        <a:rPr sz="165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180.00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r"/>
                      <a:r>
                        <a:rPr sz="165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428.04</a:t>
                      </a:r>
                    </a:p>
                    <a:p>
                      <a:pPr algn="r"/>
                      <a:r>
                        <a:rPr sz="165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428.04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</a:tr>
              <a:tr h="758190"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D4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r"/>
                      <a:r>
                        <a:rPr sz="165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200.000000</a:t>
                      </a:r>
                    </a:p>
                    <a:p>
                      <a:pPr algn="r"/>
                      <a:r>
                        <a:rPr sz="165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200.000000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r"/>
                      <a:r>
                        <a:rPr sz="165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713.569638</a:t>
                      </a:r>
                    </a:p>
                    <a:p>
                      <a:pPr algn="r"/>
                      <a:r>
                        <a:rPr sz="165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713.569638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r"/>
                      <a:r>
                        <a:rPr sz="165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200.00</a:t>
                      </a:r>
                    </a:p>
                    <a:p>
                      <a:pPr algn="r"/>
                      <a:r>
                        <a:rPr sz="165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200.00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r"/>
                      <a:r>
                        <a:rPr sz="165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499.36</a:t>
                      </a:r>
                    </a:p>
                    <a:p>
                      <a:pPr algn="r"/>
                      <a:r>
                        <a:rPr sz="165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499.36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57A31E97-0616-4785-A639-053F74A3A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19800"/>
            <a:ext cx="11277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555B65"/>
                </a:solidFill>
                <a:latin typeface="Noto Sans CJK TC"/>
                <a:ea typeface="Noto Sans CJK TC"/>
                <a:cs typeface="Noto Sans CJK TC"/>
              </a:rPr>
              <a:t>金額逐分相同；電量最大差 2.96e-12 kWh。展示 6 位小數，判定用未截短值。</a:t>
            </a:r>
          </a:p>
        </p:txBody>
      </p:sp>
    </p:spTree>
    <p:extLst>
      <p:ext uri="{BB962C8B-B14F-4D97-AF65-F5344CB8AC3E}">
        <p14:creationId xmlns:p14="http://schemas.microsoft.com/office/powerpoint/2010/main" val="76331184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49A9459-F406-4FC0-8D5B-8DC1AEC71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1277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111111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600" b="0">
                <a:solidFill>
                  <a:srgbClr val="111111"/>
                </a:solidFill>
                <a:latin typeface="Noto Sans CJK TC"/>
                <a:ea typeface="Noto Sans CJK TC"/>
                <a:cs typeface="Noto Sans CJK TC"/>
              </a:rPr>
              <a:t>V03｜停機保留佇列，恢復後完成服務</a:t>
            </a:r>
          </a:p>
        </p:txBody>
      </p:sp>
      <p:sp>
        <p:nvSpPr>
          <p:cNvPr id="2" name="slide-intro">
            <a:extLst xmlns:a="http://schemas.openxmlformats.org/drawingml/2006/main">
              <a:ext uri="{FF2B5EF4-FFF2-40B4-BE49-F238E27FC236}">
                <a16:creationId xmlns:a16="http://schemas.microsoft.com/office/drawing/2014/main" id="{061AD969-91E8-4624-A838-26E29B8F7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33475"/>
            <a:ext cx="11277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55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555B65"/>
                </a:solidFill>
                <a:latin typeface="Noto Sans CJK TC"/>
                <a:ea typeface="Noto Sans CJK TC"/>
                <a:cs typeface="Noto Sans CJK TC"/>
              </a:rPr>
              <a:t>每格上行為程式、下行為獨立 Decimal；電量 kWh，金額 CNY。</a:t>
            </a:r>
          </a:p>
        </p:txBody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22804593-656B-4E94-9128-60DDF4252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0325"/>
            <a:ext cx="904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555B65"/>
                </a:solidFill>
                <a:latin typeface="Noto Sans CJK TC"/>
                <a:ea typeface="Noto Sans CJK TC"/>
                <a:cs typeface="Noto Sans CJK TC"/>
              </a:rPr>
              <a:t>HIGHWAY SWAP SIM  /  模型驗證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2C4B95DD-9AD5-4036-84A7-508365B3B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817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555B65"/>
                </a:solidFill>
                <a:latin typeface="Noto Sans CJK TC"/>
                <a:ea typeface="Noto Sans CJK TC"/>
                <a:cs typeface="Noto Sans CJK TC"/>
              </a:rPr>
              <a:t>09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457200" y="2076450"/>
          <a:ext xmlns:a="http://schemas.openxmlformats.org/drawingml/2006/main" cx="11277600" cy="3790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742950"/>
                <a:gridCol w="2838450"/>
                <a:gridCol w="2838450"/>
                <a:gridCol w="2428875"/>
                <a:gridCol w="2428875"/>
              </a:tblGrid>
              <a:tr h="631825"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日</a:t>
                      </a:r>
                    </a:p>
                  </a:txBody>
                  <a:tcPr marL="114300" marR="114300" marT="47625" marB="47625" anchor="ctr">
                    <a:solidFill>
                      <a:srgbClr val="EDEDED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r"/>
                      <a:r>
                        <a:rPr sz="1650" b="1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客戶交付</a:t>
                      </a:r>
                    </a:p>
                    <a:p>
                      <a:pPr algn="r"/>
                      <a:r>
                        <a:rPr sz="1650" b="1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程式 / 獨立</a:t>
                      </a:r>
                    </a:p>
                  </a:txBody>
                  <a:tcPr marL="114300" marR="114300" marT="47625" marB="47625" anchor="ctr">
                    <a:solidFill>
                      <a:srgbClr val="EDEDED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r"/>
                      <a:r>
                        <a:rPr sz="1650" b="1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電網購入</a:t>
                      </a:r>
                    </a:p>
                    <a:p>
                      <a:pPr algn="r"/>
                      <a:r>
                        <a:rPr sz="1650" b="1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程式 / 獨立</a:t>
                      </a:r>
                    </a:p>
                  </a:txBody>
                  <a:tcPr marL="114300" marR="114300" marT="47625" marB="47625" anchor="ctr">
                    <a:solidFill>
                      <a:srgbClr val="EDEDED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r"/>
                      <a:r>
                        <a:rPr sz="1650" b="1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結算收入</a:t>
                      </a:r>
                    </a:p>
                    <a:p>
                      <a:pPr algn="r"/>
                      <a:r>
                        <a:rPr sz="1650" b="1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程式 / 獨立</a:t>
                      </a:r>
                    </a:p>
                  </a:txBody>
                  <a:tcPr marL="114300" marR="114300" marT="47625" marB="47625" anchor="ctr">
                    <a:solidFill>
                      <a:srgbClr val="EDEDED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r"/>
                      <a:r>
                        <a:rPr sz="1650" b="1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電網支付</a:t>
                      </a:r>
                    </a:p>
                    <a:p>
                      <a:pPr algn="r"/>
                      <a:r>
                        <a:rPr sz="1650" b="1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程式 / 獨立</a:t>
                      </a:r>
                    </a:p>
                  </a:txBody>
                  <a:tcPr marL="114300" marR="114300" marT="47625" marB="47625" anchor="ctr">
                    <a:solidFill>
                      <a:srgbClr val="EDEDED"/>
                    </a:solidFill>
                  </a:tcPr>
                </a:tc>
              </a:tr>
              <a:tr h="631825"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D1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r"/>
                      <a:r>
                        <a:rPr sz="165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200.000000</a:t>
                      </a:r>
                    </a:p>
                    <a:p>
                      <a:pPr algn="r"/>
                      <a:r>
                        <a:rPr sz="165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200.000000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r"/>
                      <a:r>
                        <a:rPr sz="165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93.984962</a:t>
                      </a:r>
                    </a:p>
                    <a:p>
                      <a:pPr algn="r"/>
                      <a:r>
                        <a:rPr sz="165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93.984962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r"/>
                      <a:r>
                        <a:rPr sz="165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190.00</a:t>
                      </a:r>
                    </a:p>
                    <a:p>
                      <a:pPr algn="r"/>
                      <a:r>
                        <a:rPr sz="165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190.00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r"/>
                      <a:r>
                        <a:rPr sz="165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37.59</a:t>
                      </a:r>
                    </a:p>
                    <a:p>
                      <a:pPr algn="r"/>
                      <a:r>
                        <a:rPr sz="165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37.59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</a:tr>
              <a:tr h="631825"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D2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r"/>
                      <a:r>
                        <a:rPr sz="165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0.000000</a:t>
                      </a:r>
                    </a:p>
                    <a:p>
                      <a:pPr algn="r"/>
                      <a:r>
                        <a:rPr sz="165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0.000000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r"/>
                      <a:r>
                        <a:rPr sz="165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0.000000</a:t>
                      </a:r>
                    </a:p>
                    <a:p>
                      <a:pPr algn="r"/>
                      <a:r>
                        <a:rPr sz="165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0.000000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r"/>
                      <a:r>
                        <a:rPr sz="165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0.00</a:t>
                      </a:r>
                    </a:p>
                    <a:p>
                      <a:pPr algn="r"/>
                      <a:r>
                        <a:rPr sz="165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0.00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r"/>
                      <a:r>
                        <a:rPr sz="165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0.00</a:t>
                      </a:r>
                    </a:p>
                    <a:p>
                      <a:pPr algn="r"/>
                      <a:r>
                        <a:rPr sz="165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0.00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</a:tr>
              <a:tr h="631825"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D3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r"/>
                      <a:r>
                        <a:rPr sz="165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0.000000</a:t>
                      </a:r>
                    </a:p>
                    <a:p>
                      <a:pPr algn="r"/>
                      <a:r>
                        <a:rPr sz="165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0.000000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r"/>
                      <a:r>
                        <a:rPr sz="165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0.000000</a:t>
                      </a:r>
                    </a:p>
                    <a:p>
                      <a:pPr algn="r"/>
                      <a:r>
                        <a:rPr sz="165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0.000000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r"/>
                      <a:r>
                        <a:rPr sz="165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0.00</a:t>
                      </a:r>
                    </a:p>
                    <a:p>
                      <a:pPr algn="r"/>
                      <a:r>
                        <a:rPr sz="165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0.00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r"/>
                      <a:r>
                        <a:rPr sz="165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0.00</a:t>
                      </a:r>
                    </a:p>
                    <a:p>
                      <a:pPr algn="r"/>
                      <a:r>
                        <a:rPr sz="165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0.00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</a:tr>
              <a:tr h="631825"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D4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r"/>
                      <a:r>
                        <a:rPr sz="165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600.000000</a:t>
                      </a:r>
                    </a:p>
                    <a:p>
                      <a:pPr algn="r"/>
                      <a:r>
                        <a:rPr sz="165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600.000000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r"/>
                      <a:r>
                        <a:rPr sz="165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644.468314</a:t>
                      </a:r>
                    </a:p>
                    <a:p>
                      <a:pPr algn="r"/>
                      <a:r>
                        <a:rPr sz="165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644.468314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r"/>
                      <a:r>
                        <a:rPr sz="165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630.00</a:t>
                      </a:r>
                    </a:p>
                    <a:p>
                      <a:pPr algn="r"/>
                      <a:r>
                        <a:rPr sz="165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630.00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r"/>
                      <a:r>
                        <a:rPr sz="165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451.14</a:t>
                      </a:r>
                    </a:p>
                    <a:p>
                      <a:pPr algn="r"/>
                      <a:r>
                        <a:rPr sz="165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451.14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</a:tr>
              <a:tr h="631825"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D5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r"/>
                      <a:r>
                        <a:rPr sz="165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200.000000</a:t>
                      </a:r>
                    </a:p>
                    <a:p>
                      <a:pPr algn="r"/>
                      <a:r>
                        <a:rPr sz="165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200.000000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r"/>
                      <a:r>
                        <a:rPr sz="165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214.822771</a:t>
                      </a:r>
                    </a:p>
                    <a:p>
                      <a:pPr algn="r"/>
                      <a:r>
                        <a:rPr sz="165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214.822771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r"/>
                      <a:r>
                        <a:rPr sz="165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230.00</a:t>
                      </a:r>
                    </a:p>
                    <a:p>
                      <a:pPr algn="r"/>
                      <a:r>
                        <a:rPr sz="165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230.00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r"/>
                      <a:r>
                        <a:rPr sz="165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171.86</a:t>
                      </a:r>
                    </a:p>
                    <a:p>
                      <a:pPr algn="r"/>
                      <a:r>
                        <a:rPr sz="165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171.86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6A3FD61D-EEC7-45D6-BFFA-D85F22810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19800"/>
            <a:ext cx="11277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555B65"/>
                </a:solidFill>
                <a:latin typeface="Noto Sans CJK TC"/>
                <a:ea typeface="Noto Sans CJK TC"/>
                <a:cs typeface="Noto Sans CJK TC"/>
              </a:rPr>
              <a:t>金額逐分相同；電量最大差 1.25e-12 kWh。展示 6 位小數，判定用未截短值。</a:t>
            </a:r>
          </a:p>
        </p:txBody>
      </p:sp>
    </p:spTree>
    <p:extLst>
      <p:ext uri="{BB962C8B-B14F-4D97-AF65-F5344CB8AC3E}">
        <p14:creationId xmlns:p14="http://schemas.microsoft.com/office/powerpoint/2010/main" val="180646053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9A6FD7D-31F0-4B0E-B2EF-290FCE5FD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1277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111111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600" b="0">
                <a:solidFill>
                  <a:srgbClr val="111111"/>
                </a:solidFill>
                <a:latin typeface="Noto Sans CJK TC"/>
                <a:ea typeface="Noto Sans CJK TC"/>
                <a:cs typeface="Noto Sans CJK TC"/>
              </a:rPr>
              <a:t>V03 的正能源收支包含庫存耗用</a:t>
            </a:r>
          </a:p>
        </p:txBody>
      </p:sp>
      <p:sp>
        <p:nvSpPr>
          <p:cNvPr id="2" name="slide-intro">
            <a:extLst xmlns:a="http://schemas.openxmlformats.org/drawingml/2006/main">
              <a:ext uri="{FF2B5EF4-FFF2-40B4-BE49-F238E27FC236}">
                <a16:creationId xmlns:a16="http://schemas.microsoft.com/office/drawing/2014/main" id="{D3E1A339-42F8-4826-BA03-FBD91F1CC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33475"/>
            <a:ext cx="11277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55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555B65"/>
                </a:solidFill>
                <a:latin typeface="Noto Sans CJK TC"/>
                <a:ea typeface="Noto Sans CJK TC"/>
                <a:cs typeface="Noto Sans CJK TC"/>
              </a:rPr>
              <a:t>完成 10 次服務並不表示期末已回到可持續的起始狀態。</a:t>
            </a:r>
          </a:p>
        </p:txBody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482C8DF7-0C98-4E90-9E13-C7DCF9E8E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0325"/>
            <a:ext cx="904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555B65"/>
                </a:solidFill>
                <a:latin typeface="Noto Sans CJK TC"/>
                <a:ea typeface="Noto Sans CJK TC"/>
                <a:cs typeface="Noto Sans CJK TC"/>
              </a:rPr>
              <a:t>HIGHWAY SWAP SIM  /  模型驗證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E3BA9E89-A752-42F9-A02F-BA1C1323E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817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555B65"/>
                </a:solidFill>
                <a:latin typeface="Noto Sans CJK TC"/>
                <a:ea typeface="Noto Sans CJK TC"/>
                <a:cs typeface="Noto Sans CJK TC"/>
              </a:rPr>
              <a:t>10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457200" y="2095500"/>
          <a:ext xmlns:a="http://schemas.openxmlformats.org/drawingml/2006/main" cx="5715000" cy="38671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27cd80ac70b4351"/>
          </a:graphicData>
        </a:graphic>
      </p:graphicFrame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5E867586-A6B6-4ACB-B449-D0CA3173E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152650"/>
            <a:ext cx="5124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111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50" b="1">
                <a:solidFill>
                  <a:srgbClr val="111111"/>
                </a:solidFill>
                <a:latin typeface="Noto Sans CJK TC"/>
                <a:ea typeface="Noto Sans CJK TC"/>
                <a:cs typeface="Noto Sans CJK TC"/>
              </a:rPr>
              <a:t>第 4 日集中完成 6 次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F5E1EB0C-77E1-4344-A7AC-1D31A05A6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828925"/>
            <a:ext cx="5124450" cy="19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0">
                <a:solidFill>
                  <a:srgbClr val="111111"/>
                </a:solidFill>
                <a:latin typeface="Noto Sans CJK TC"/>
                <a:ea typeface="Noto Sans CJK TC"/>
                <a:cs typeface="Noto Sans CJK TC"/>
              </a:rPr>
              <a:t>最長等待 1,567.5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0">
                <a:solidFill>
                  <a:srgbClr val="111111"/>
                </a:solidFill>
                <a:latin typeface="Noto Sans CJK TC"/>
                <a:ea typeface="Noto Sans CJK TC"/>
                <a:cs typeface="Noto Sans CJK TC"/>
              </a:rPr>
              <a:t>期初庫存 200.0 kWh</a:t>
            </a:r>
          </a:p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0">
                <a:solidFill>
                  <a:srgbClr val="111111"/>
                </a:solidFill>
                <a:latin typeface="Noto Sans CJK TC"/>
                <a:ea typeface="Noto Sans CJK TC"/>
                <a:cs typeface="Noto Sans CJK TC"/>
              </a:rPr>
              <a:t>期末庫存 87.5 kWh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C925CD0D-8B05-4BB3-BC95-607999815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914900"/>
            <a:ext cx="5124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000" b="1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缺口 112.5 kWh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99CFD564-F13B-4E5F-8379-24FD92874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514975"/>
            <a:ext cx="51244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0">
                <a:solidFill>
                  <a:srgbClr val="111111"/>
                </a:solidFill>
                <a:latin typeface="Noto Sans CJK TC"/>
                <a:ea typeface="Noto Sans CJK TC"/>
                <a:cs typeface="Noto Sans CJK TC"/>
              </a:rPr>
              <a:t>庫存缺口會阻止投資預測</a:t>
            </a:r>
          </a:p>
        </p:txBody>
      </p:sp>
    </p:spTree>
    <p:extLst>
      <p:ext uri="{BB962C8B-B14F-4D97-AF65-F5344CB8AC3E}">
        <p14:creationId xmlns:p14="http://schemas.microsoft.com/office/powerpoint/2010/main" val="118130764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2B688E0-7093-45D5-B1BA-6DADCD932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1277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111111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600" b="0">
                <a:solidFill>
                  <a:srgbClr val="111111"/>
                </a:solidFill>
                <a:latin typeface="Noto Sans CJK TC"/>
                <a:ea typeface="Noto Sans CJK TC"/>
                <a:cs typeface="Noto Sans CJK TC"/>
              </a:rPr>
              <a:t>元件帳本能定位損耗，不能重複加總</a:t>
            </a:r>
          </a:p>
        </p:txBody>
      </p:sp>
      <p:sp>
        <p:nvSpPr>
          <p:cNvPr id="2" name="slide-intro">
            <a:extLst xmlns:a="http://schemas.openxmlformats.org/drawingml/2006/main">
              <a:ext uri="{FF2B5EF4-FFF2-40B4-BE49-F238E27FC236}">
                <a16:creationId xmlns:a16="http://schemas.microsoft.com/office/drawing/2014/main" id="{91EC7186-C686-4ED6-A005-0415BA9A6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33475"/>
            <a:ext cx="11277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55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555B65"/>
                </a:solidFill>
                <a:latin typeface="Noto Sans CJK TC"/>
                <a:ea typeface="Noto Sans CJK TC"/>
                <a:cs typeface="Noto Sans CJK TC"/>
              </a:rPr>
              <a:t>V02 雙站合計，表中電量顯示 3 位小數；元件自身滿足 E入 = E出 + E損，端點負载另進入全站守恆。</a:t>
            </a:r>
          </a:p>
        </p:txBody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7A3BE52E-B431-4678-AC6A-65748D091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0325"/>
            <a:ext cx="904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555B65"/>
                </a:solidFill>
                <a:latin typeface="Noto Sans CJK TC"/>
                <a:ea typeface="Noto Sans CJK TC"/>
                <a:cs typeface="Noto Sans CJK TC"/>
              </a:rPr>
              <a:t>HIGHWAY SWAP SIM  /  模型驗證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20668486-D041-4B24-9CD4-0DFFF4D73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817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555B65"/>
                </a:solidFill>
                <a:latin typeface="Noto Sans CJK TC"/>
                <a:ea typeface="Noto Sans CJK TC"/>
                <a:cs typeface="Noto Sans CJK TC"/>
              </a:rPr>
              <a:t>11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457200" y="2095500"/>
          <a:ext xmlns:a="http://schemas.openxmlformats.org/drawingml/2006/main" cx="11277600" cy="2914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47950"/>
                <a:gridCol w="2876550"/>
                <a:gridCol w="2876550"/>
                <a:gridCol w="2876550"/>
              </a:tblGrid>
              <a:tr h="582930"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雙站元件</a:t>
                      </a:r>
                    </a:p>
                  </a:txBody>
                  <a:tcPr marL="114300" marR="114300" marT="47625" marB="47625" anchor="ctr">
                    <a:solidFill>
                      <a:srgbClr val="EDEDED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r"/>
                      <a:r>
                        <a:rPr sz="1800" b="1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輸入 kWh</a:t>
                      </a:r>
                    </a:p>
                  </a:txBody>
                  <a:tcPr marL="114300" marR="114300" marT="47625" marB="47625" anchor="ctr">
                    <a:solidFill>
                      <a:srgbClr val="EDEDED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r"/>
                      <a:r>
                        <a:rPr sz="1800" b="1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輸出 kWh</a:t>
                      </a:r>
                    </a:p>
                  </a:txBody>
                  <a:tcPr marL="114300" marR="114300" marT="47625" marB="47625" anchor="ctr">
                    <a:solidFill>
                      <a:srgbClr val="EDEDED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r"/>
                      <a:r>
                        <a:rPr sz="1800" b="1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損失 kWh</a:t>
                      </a:r>
                    </a:p>
                  </a:txBody>
                  <a:tcPr marL="114300" marR="114300" marT="47625" marB="47625" anchor="ctr">
                    <a:solidFill>
                      <a:srgbClr val="EDEDED"/>
                    </a:solidFill>
                  </a:tcPr>
                </a:tc>
              </a:tr>
              <a:tr h="582930"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變壓器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2,854.279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2,797.193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57.086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</a:tr>
              <a:tr h="582930"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PCS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877.193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842.105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35.088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</a:tr>
              <a:tr h="582930"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DD／充電端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842.105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800.000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42.105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</a:tr>
              <a:tr h="582930"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AC 輔機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1,920.000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1,920.000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0.000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F4087030-32BD-4374-8814-AD168EFEB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57800"/>
            <a:ext cx="11277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0">
                <a:solidFill>
                  <a:srgbClr val="111111"/>
                </a:solidFill>
                <a:latin typeface="Noto Sans CJK TC"/>
                <a:ea typeface="Noto Sans CJK TC"/>
                <a:cs typeface="Noto Sans CJK TC"/>
              </a:rPr>
              <a:t>全站：2,854.278554 ＝ 800 ＋ 1,920 ＋ 134.278554 ＋ 0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F2426AA1-A2A7-4F0C-AEC5-F68B9BB80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48350"/>
            <a:ext cx="11277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555B65"/>
                </a:solidFill>
                <a:latin typeface="Noto Sans CJK TC"/>
                <a:ea typeface="Noto Sans CJK TC"/>
                <a:cs typeface="Noto Sans CJK TC"/>
              </a:rPr>
              <a:t>元件比較最大差 1.25e-12 kWh；內部邊流量合併相抵。端點不可重複算成客戶交付。</a:t>
            </a:r>
          </a:p>
        </p:txBody>
      </p:sp>
    </p:spTree>
    <p:extLst>
      <p:ext uri="{BB962C8B-B14F-4D97-AF65-F5344CB8AC3E}">
        <p14:creationId xmlns:p14="http://schemas.microsoft.com/office/powerpoint/2010/main" val="145357413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08A0377-8004-49E3-B2B1-0A646A280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1277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111111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600" b="0">
                <a:solidFill>
                  <a:srgbClr val="111111"/>
                </a:solidFill>
                <a:latin typeface="Noto Sans CJK TC"/>
                <a:ea typeface="Noto Sans CJK TC"/>
                <a:cs typeface="Noto Sans CJK TC"/>
              </a:rPr>
              <a:t>金額以每筆結算帳單相加，逐分核對</a:t>
            </a:r>
          </a:p>
        </p:txBody>
      </p:sp>
      <p:sp>
        <p:nvSpPr>
          <p:cNvPr id="2" name="slide-intro">
            <a:extLst xmlns:a="http://schemas.openxmlformats.org/drawingml/2006/main">
              <a:ext uri="{FF2B5EF4-FFF2-40B4-BE49-F238E27FC236}">
                <a16:creationId xmlns:a16="http://schemas.microsoft.com/office/drawing/2014/main" id="{E6BD6A74-C94A-4991-B2EB-9A7D9FC48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33475"/>
            <a:ext cx="11277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55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555B65"/>
                </a:solidFill>
                <a:latin typeface="Noto Sans CJK TC"/>
                <a:ea typeface="Noto Sans CJK TC"/>
                <a:cs typeface="Noto Sans CJK TC"/>
              </a:rPr>
              <a:t>本表為合成案例的期間能源收支；固定與變動營運成本設 0，CAPEX 未設定。</a:t>
            </a:r>
          </a:p>
        </p:txBody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B1B15DDA-CFA2-4AA2-81AF-A2E043B65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0325"/>
            <a:ext cx="904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555B65"/>
                </a:solidFill>
                <a:latin typeface="Noto Sans CJK TC"/>
                <a:ea typeface="Noto Sans CJK TC"/>
                <a:cs typeface="Noto Sans CJK TC"/>
              </a:rPr>
              <a:t>HIGHWAY SWAP SIM  /  模型驗證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691F3B5D-3EEF-4586-8B6B-4CBFE362C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817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555B65"/>
                </a:solidFill>
                <a:latin typeface="Noto Sans CJK TC"/>
                <a:ea typeface="Noto Sans CJK TC"/>
                <a:cs typeface="Noto Sans CJK TC"/>
              </a:rPr>
              <a:t>12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457200" y="2114550"/>
          <a:ext xmlns:a="http://schemas.openxmlformats.org/drawingml/2006/main" cx="11277600" cy="3009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71550"/>
                <a:gridCol w="2400300"/>
                <a:gridCol w="2400300"/>
                <a:gridCol w="2686050"/>
                <a:gridCol w="2819400"/>
              </a:tblGrid>
              <a:tr h="752475"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案例</a:t>
                      </a:r>
                    </a:p>
                  </a:txBody>
                  <a:tcPr marL="114300" marR="114300" marT="47625" marB="47625" anchor="ctr">
                    <a:solidFill>
                      <a:srgbClr val="EDEDED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r"/>
                      <a:r>
                        <a:rPr sz="1800" b="1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結算收入 CNY</a:t>
                      </a:r>
                    </a:p>
                    <a:p>
                      <a:pPr algn="r"/>
                      <a:r>
                        <a:rPr sz="1800" b="1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程式 / 獨立</a:t>
                      </a:r>
                    </a:p>
                  </a:txBody>
                  <a:tcPr marL="114300" marR="114300" marT="47625" marB="47625" anchor="ctr">
                    <a:solidFill>
                      <a:srgbClr val="EDEDED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r"/>
                      <a:r>
                        <a:rPr sz="1800" b="1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電費 CNY</a:t>
                      </a:r>
                    </a:p>
                    <a:p>
                      <a:pPr algn="r"/>
                      <a:r>
                        <a:rPr sz="1800" b="1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程式 / 獨立</a:t>
                      </a:r>
                    </a:p>
                  </a:txBody>
                  <a:tcPr marL="114300" marR="114300" marT="47625" marB="47625" anchor="ctr">
                    <a:solidFill>
                      <a:srgbClr val="EDEDED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r"/>
                      <a:r>
                        <a:rPr sz="1800" b="1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收支 CNY</a:t>
                      </a:r>
                    </a:p>
                    <a:p>
                      <a:pPr algn="r"/>
                      <a:r>
                        <a:rPr sz="1800" b="1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程式 / 獨立</a:t>
                      </a:r>
                    </a:p>
                  </a:txBody>
                  <a:tcPr marL="114300" marR="114300" marT="47625" marB="47625" anchor="ctr">
                    <a:solidFill>
                      <a:srgbClr val="EDEDED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庫存判讀</a:t>
                      </a:r>
                    </a:p>
                  </a:txBody>
                  <a:tcPr marL="114300" marR="114300" marT="47625" marB="47625" anchor="ctr">
                    <a:solidFill>
                      <a:srgbClr val="EDEDED"/>
                    </a:solidFill>
                  </a:tcPr>
                </a:tc>
              </a:tr>
              <a:tr h="752475"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V01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480.00</a:t>
                      </a:r>
                    </a:p>
                    <a:p>
                      <a:pPr algn="r"/>
                      <a:r>
                        <a:rPr sz="180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480.00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322.26</a:t>
                      </a:r>
                    </a:p>
                    <a:p>
                      <a:pPr algn="r"/>
                      <a:r>
                        <a:rPr sz="180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322.26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157.74</a:t>
                      </a:r>
                    </a:p>
                    <a:p>
                      <a:pPr algn="r"/>
                      <a:r>
                        <a:rPr sz="180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157.74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能量端點相同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</a:tr>
              <a:tr h="752475"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V02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680.00</a:t>
                      </a:r>
                    </a:p>
                    <a:p>
                      <a:pPr algn="r"/>
                      <a:r>
                        <a:rPr sz="180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680.00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1,569.44</a:t>
                      </a:r>
                    </a:p>
                    <a:p>
                      <a:pPr algn="r"/>
                      <a:r>
                        <a:rPr sz="180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1,569.44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-889.44</a:t>
                      </a:r>
                    </a:p>
                    <a:p>
                      <a:pPr algn="r"/>
                      <a:r>
                        <a:rPr sz="180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-889.44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能量端點相同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</a:tr>
              <a:tr h="752475"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V03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1,050.00</a:t>
                      </a:r>
                    </a:p>
                    <a:p>
                      <a:pPr algn="r"/>
                      <a:r>
                        <a:rPr sz="180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1,050.00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660.59</a:t>
                      </a:r>
                    </a:p>
                    <a:p>
                      <a:pPr algn="r"/>
                      <a:r>
                        <a:rPr sz="180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660.59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389.41</a:t>
                      </a:r>
                    </a:p>
                    <a:p>
                      <a:pPr algn="r"/>
                      <a:r>
                        <a:rPr sz="180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389.41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缺口 112.5 kWh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B973AC1E-C100-46D4-B6FE-2B6709C2A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62575"/>
            <a:ext cx="11277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0">
                <a:solidFill>
                  <a:srgbClr val="111111"/>
                </a:solidFill>
                <a:latin typeface="Noto Sans CJK TC"/>
                <a:ea typeface="Noto Sans CJK TC"/>
                <a:cs typeface="Noto Sans CJK TC"/>
              </a:rPr>
              <a:t>V03 電網：A-grid 660.59；B-grid 0。跨站傳輸不另產生外部收入。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9582729E-330D-4006-8F2C-1A83210A4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0"/>
            <a:ext cx="11277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55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555B65"/>
                </a:solidFill>
                <a:latin typeface="Noto Sans CJK TC"/>
                <a:ea typeface="Noto Sans CJK TC"/>
                <a:cs typeface="Noto Sans CJK TC"/>
              </a:rPr>
              <a:t>先四捨五入總額 ≠ 先逐帳單結算後加總；本版依來源 × 絕對小時結算。</a:t>
            </a:r>
          </a:p>
        </p:txBody>
      </p:sp>
    </p:spTree>
    <p:extLst>
      <p:ext uri="{BB962C8B-B14F-4D97-AF65-F5344CB8AC3E}">
        <p14:creationId xmlns:p14="http://schemas.microsoft.com/office/powerpoint/2010/main" val="25857260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697F7CE-28AF-4F7C-A5B7-8E7C8D3EB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1277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111111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600" b="0">
                <a:solidFill>
                  <a:srgbClr val="111111"/>
                </a:solidFill>
                <a:latin typeface="Noto Sans CJK TC"/>
                <a:ea typeface="Noto Sans CJK TC"/>
                <a:cs typeface="Noto Sans CJK TC"/>
              </a:rPr>
              <a:t>接受門檻把浮點誤差與結算錯誤分開</a:t>
            </a:r>
          </a:p>
        </p:txBody>
      </p:sp>
      <p:sp>
        <p:nvSpPr>
          <p:cNvPr id="2" name="slide-intro">
            <a:extLst xmlns:a="http://schemas.openxmlformats.org/drawingml/2006/main">
              <a:ext uri="{FF2B5EF4-FFF2-40B4-BE49-F238E27FC236}">
                <a16:creationId xmlns:a16="http://schemas.microsoft.com/office/drawing/2014/main" id="{BA10D814-0195-49C6-B3CA-4967951EE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33475"/>
            <a:ext cx="11277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55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555B65"/>
                </a:solidFill>
                <a:latin typeface="Noto Sans CJK TC"/>
                <a:ea typeface="Noto Sans CJK TC"/>
                <a:cs typeface="Noto Sans CJK TC"/>
              </a:rPr>
              <a:t>測試是範圍有限的可重現證據；後續改版必須重跑並新增受影響案例。</a:t>
            </a:r>
          </a:p>
        </p:txBody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5EAE374C-80DC-40FE-A92A-F9B04C362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0325"/>
            <a:ext cx="904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555B65"/>
                </a:solidFill>
                <a:latin typeface="Noto Sans CJK TC"/>
                <a:ea typeface="Noto Sans CJK TC"/>
                <a:cs typeface="Noto Sans CJK TC"/>
              </a:rPr>
              <a:t>HIGHWAY SWAP SIM  /  模型驗證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A4F287E6-0D59-4E53-8E70-5FEE6439B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817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555B65"/>
                </a:solidFill>
                <a:latin typeface="Noto Sans CJK TC"/>
                <a:ea typeface="Noto Sans CJK TC"/>
                <a:cs typeface="Noto Sans CJK TC"/>
              </a:rPr>
              <a:t>13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457200" y="2105025"/>
          <a:ext xmlns:a="http://schemas.openxmlformats.org/drawingml/2006/main" cx="11277600" cy="3733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05100"/>
                <a:gridCol w="4286250"/>
                <a:gridCol w="4286250"/>
              </a:tblGrid>
              <a:tr h="622300"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判定類別</a:t>
                      </a:r>
                    </a:p>
                  </a:txBody>
                  <a:tcPr marL="114300" marR="114300" marT="47625" marB="47625" anchor="ctr">
                    <a:solidFill>
                      <a:srgbClr val="EDEDED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接受門檻</a:t>
                      </a:r>
                    </a:p>
                  </a:txBody>
                  <a:tcPr marL="114300" marR="114300" marT="47625" marB="47625" anchor="ctr">
                    <a:solidFill>
                      <a:srgbClr val="EDEDED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本輪結果</a:t>
                      </a:r>
                    </a:p>
                  </a:txBody>
                  <a:tcPr marL="114300" marR="114300" marT="47625" marB="47625" anchor="ctr">
                    <a:solidFill>
                      <a:srgbClr val="EDEDED"/>
                    </a:solidFill>
                  </a:tcPr>
                </a:tc>
              </a:tr>
              <a:tr h="622300"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電量／功率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≤ 1e−6 kWh；≤ 1e−6 kW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E 2.96e-12 kWh</a:t>
                      </a:r>
                    </a:p>
                    <a:p>
                      <a:pPr algn="l"/>
                      <a:r>
                        <a:rPr sz="165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P 1.42e-14 kW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</a:tr>
              <a:tr h="622300"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事件時點與計數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≤ 1e−6 分鐘；計數完全相同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最大 0 分鐘；計數差 0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</a:tr>
              <a:tr h="622300"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已結算金額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整分差 = 0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全部逐分相同；差 0 分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</a:tr>
              <a:tr h="622300"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回歸邊界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核心 15＋財務 13＋物理 15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43 項回歸通過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</a:tr>
              <a:tr h="622300"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補充整合守恆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92 設備／96 連線，連續 3 日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最大殘差 2.00e−11 kWh</a:t>
                      </a:r>
                    </a:p>
                    <a:p>
                      <a:pPr algn="l"/>
                      <a:r>
                        <a:rPr sz="165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非第 4 個獨立解析案例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E0E1A52D-8656-4C6F-B188-061DB0AE7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19800"/>
            <a:ext cx="11277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555B65"/>
                </a:solidFill>
                <a:latin typeface="Noto Sans CJK TC"/>
                <a:ea typeface="Noto Sans CJK TC"/>
                <a:cs typeface="Noto Sans CJK TC"/>
              </a:rPr>
              <a:t>3 案共 47,489 項解析比較通過；數值容差不等於現場量測容差。</a:t>
            </a:r>
          </a:p>
        </p:txBody>
      </p:sp>
    </p:spTree>
    <p:extLst>
      <p:ext uri="{BB962C8B-B14F-4D97-AF65-F5344CB8AC3E}">
        <p14:creationId xmlns:p14="http://schemas.microsoft.com/office/powerpoint/2010/main" val="138272975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8D91D53-0420-4C13-94E2-DBAFB464E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1277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111111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600" b="0">
                <a:solidFill>
                  <a:srgbClr val="111111"/>
                </a:solidFill>
                <a:latin typeface="Noto Sans CJK TC"/>
                <a:ea typeface="Noto Sans CJK TC"/>
                <a:cs typeface="Noto Sans CJK TC"/>
              </a:rPr>
              <a:t>模型期間貢獻不等於完整投資報酬</a:t>
            </a:r>
          </a:p>
        </p:txBody>
      </p:sp>
      <p:sp>
        <p:nvSpPr>
          <p:cNvPr id="2" name="slide-intro">
            <a:extLst xmlns:a="http://schemas.openxmlformats.org/drawingml/2006/main">
              <a:ext uri="{FF2B5EF4-FFF2-40B4-BE49-F238E27FC236}">
                <a16:creationId xmlns:a16="http://schemas.microsoft.com/office/drawing/2014/main" id="{7E5080DA-E54A-4C5C-B226-20A440103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33475"/>
            <a:ext cx="11277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55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555B65"/>
                </a:solidFill>
                <a:latin typeface="Noto Sans CJK TC"/>
                <a:ea typeface="Noto Sans CJK TC"/>
                <a:cs typeface="Noto Sans CJK TC"/>
              </a:rPr>
              <a:t>期末庫存缺口會阻止投資預測；期末能量相同也不代表存貨成本估值已驗證。</a:t>
            </a:r>
          </a:p>
        </p:txBody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E1FBA71D-94CF-4C66-8B23-7E9F6F2C0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0325"/>
            <a:ext cx="904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555B65"/>
                </a:solidFill>
                <a:latin typeface="Noto Sans CJK TC"/>
                <a:ea typeface="Noto Sans CJK TC"/>
                <a:cs typeface="Noto Sans CJK TC"/>
              </a:rPr>
              <a:t>HIGHWAY SWAP SIM  /  模型驗證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C74BF279-A305-4A4F-9B82-37E4002AF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817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555B65"/>
                </a:solidFill>
                <a:latin typeface="Noto Sans CJK TC"/>
                <a:ea typeface="Noto Sans CJK TC"/>
                <a:cs typeface="Noto Sans CJK TC"/>
              </a:rPr>
              <a:t>14</a:t>
            </a:r>
          </a:p>
        </p:txBody>
      </p:sp>
      <p:sp>
        <p:nvSpPr>
          <p:cNvPr id="5" name="left-heading">
            <a:extLst xmlns:a="http://schemas.openxmlformats.org/drawingml/2006/main">
              <a:ext uri="{FF2B5EF4-FFF2-40B4-BE49-F238E27FC236}">
                <a16:creationId xmlns:a16="http://schemas.microsoft.com/office/drawing/2014/main" id="{4D03F241-430A-4C9B-8BE3-A6CC224D8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28825"/>
            <a:ext cx="5391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111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50" b="1">
                <a:solidFill>
                  <a:srgbClr val="111111"/>
                </a:solidFill>
                <a:latin typeface="Noto Sans CJK TC"/>
                <a:ea typeface="Noto Sans CJK TC"/>
                <a:cs typeface="Noto Sans CJK TC"/>
              </a:rPr>
              <a:t>收入與成本的定義</a:t>
            </a:r>
          </a:p>
        </p:txBody>
      </p:sp>
      <p:sp>
        <p:nvSpPr>
          <p:cNvPr id="6" name="left-body">
            <a:extLst xmlns:a="http://schemas.openxmlformats.org/drawingml/2006/main">
              <a:ext uri="{FF2B5EF4-FFF2-40B4-BE49-F238E27FC236}">
                <a16:creationId xmlns:a16="http://schemas.microsoft.com/office/drawing/2014/main" id="{01370B63-3177-48A3-973E-386F428AF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0"/>
            <a:ext cx="5391150" cy="3105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0">
                <a:solidFill>
                  <a:srgbClr val="111111"/>
                </a:solidFill>
                <a:latin typeface="Noto Sans CJK TC"/>
                <a:ea typeface="Noto Sans CJK TC"/>
                <a:cs typeface="Noto Sans CJK TC"/>
              </a:rPr>
              <a:t>能源收支＝結算收入－電網支付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0">
                <a:solidFill>
                  <a:srgbClr val="111111"/>
                </a:solidFill>
                <a:latin typeface="Noto Sans CJK TC"/>
                <a:ea typeface="Noto Sans CJK TC"/>
                <a:cs typeface="Noto Sans CJK TC"/>
              </a:rPr>
              <a:t>期間營運貢獻另扣變動成本</a:t>
            </a:r>
          </a:p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0">
                <a:solidFill>
                  <a:srgbClr val="111111"/>
                </a:solidFill>
                <a:latin typeface="Noto Sans CJK TC"/>
                <a:ea typeface="Noto Sans CJK TC"/>
                <a:cs typeface="Noto Sans CJK TC"/>
              </a:rPr>
              <a:t>與已知的期間固定成本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0">
                <a:solidFill>
                  <a:srgbClr val="111111"/>
                </a:solidFill>
                <a:latin typeface="Noto Sans CJK TC"/>
                <a:ea typeface="Noto Sans CJK TC"/>
                <a:cs typeface="Noto Sans CJK TC"/>
              </a:rPr>
              <a:t>需同時檢視期初／期末庫存</a:t>
            </a:r>
          </a:p>
        </p:txBody>
      </p:sp>
      <p:sp>
        <p:nvSpPr>
          <p:cNvPr id="7" name="right-heading">
            <a:extLst xmlns:a="http://schemas.openxmlformats.org/drawingml/2006/main">
              <a:ext uri="{FF2B5EF4-FFF2-40B4-BE49-F238E27FC236}">
                <a16:creationId xmlns:a16="http://schemas.microsoft.com/office/drawing/2014/main" id="{C8506586-07DE-43F6-AA3C-0039F3FEB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28825"/>
            <a:ext cx="5410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111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50" b="1">
                <a:solidFill>
                  <a:srgbClr val="111111"/>
                </a:solidFill>
                <a:latin typeface="Noto Sans CJK TC"/>
                <a:ea typeface="Noto Sans CJK TC"/>
                <a:cs typeface="Noto Sans CJK TC"/>
              </a:rPr>
              <a:t>尚需納入或校準</a:t>
            </a:r>
          </a:p>
        </p:txBody>
      </p:sp>
      <p:sp>
        <p:nvSpPr>
          <p:cNvPr id="8" name="right-body">
            <a:extLst xmlns:a="http://schemas.openxmlformats.org/drawingml/2006/main">
              <a:ext uri="{FF2B5EF4-FFF2-40B4-BE49-F238E27FC236}">
                <a16:creationId xmlns:a16="http://schemas.microsoft.com/office/drawing/2014/main" id="{9F52A082-688B-4DCE-B305-A3497859C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67000"/>
            <a:ext cx="5410200" cy="3105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0">
                <a:solidFill>
                  <a:srgbClr val="111111"/>
                </a:solidFill>
                <a:latin typeface="Noto Sans CJK TC"/>
                <a:ea typeface="Noto Sans CJK TC"/>
                <a:cs typeface="Noto Sans CJK TC"/>
              </a:rPr>
              <a:t>庫存取得成本及期末估值</a:t>
            </a:r>
          </a:p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0">
                <a:solidFill>
                  <a:srgbClr val="111111"/>
                </a:solidFill>
                <a:latin typeface="Noto Sans CJK TC"/>
                <a:ea typeface="Noto Sans CJK TC"/>
                <a:cs typeface="Noto Sans CJK TC"/>
              </a:rPr>
              <a:t>稅、折舊、融資與更換支出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0">
                <a:solidFill>
                  <a:srgbClr val="111111"/>
                </a:solidFill>
                <a:latin typeface="Noto Sans CJK TC"/>
                <a:ea typeface="Noto Sans CJK TC"/>
                <a:cs typeface="Noto Sans CJK TC"/>
              </a:rPr>
              <a:t>實際需求、電價與計費方式</a:t>
            </a:r>
          </a:p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0">
                <a:solidFill>
                  <a:srgbClr val="111111"/>
                </a:solidFill>
                <a:latin typeface="Noto Sans CJK TC"/>
                <a:ea typeface="Noto Sans CJK TC"/>
                <a:cs typeface="Noto Sans CJK TC"/>
              </a:rPr>
              <a:t>效率、可用率及服務限制</a:t>
            </a:r>
          </a:p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0">
                <a:solidFill>
                  <a:srgbClr val="111111"/>
                </a:solidFill>
                <a:latin typeface="Noto Sans CJK TC"/>
                <a:ea typeface="Noto Sans CJK TC"/>
                <a:cs typeface="Noto Sans CJK TC"/>
              </a:rPr>
              <a:t>調度可行，不代表全局最優</a:t>
            </a:r>
          </a:p>
        </p:txBody>
      </p:sp>
    </p:spTree>
    <p:extLst>
      <p:ext uri="{BB962C8B-B14F-4D97-AF65-F5344CB8AC3E}">
        <p14:creationId xmlns:p14="http://schemas.microsoft.com/office/powerpoint/2010/main" val="173201368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C71F059-CF76-423B-9C29-94A5FCB44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1277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111111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600" b="0">
                <a:solidFill>
                  <a:srgbClr val="111111"/>
                </a:solidFill>
                <a:latin typeface="Noto Sans CJK TC"/>
                <a:ea typeface="Noto Sans CJK TC"/>
                <a:cs typeface="Noto Sans CJK TC"/>
              </a:rPr>
              <a:t>現場驗收先約定量測與誤差規則</a:t>
            </a:r>
          </a:p>
        </p:txBody>
      </p:sp>
      <p:sp>
        <p:nvSpPr>
          <p:cNvPr id="2" name="slide-intro">
            <a:extLst xmlns:a="http://schemas.openxmlformats.org/drawingml/2006/main">
              <a:ext uri="{FF2B5EF4-FFF2-40B4-BE49-F238E27FC236}">
                <a16:creationId xmlns:a16="http://schemas.microsoft.com/office/drawing/2014/main" id="{4312FCB1-132A-451C-8ABB-E3EC185C9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33475"/>
            <a:ext cx="11277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55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555B65"/>
                </a:solidFill>
                <a:latin typeface="Noto Sans CJK TC"/>
                <a:ea typeface="Noto Sans CJK TC"/>
                <a:cs typeface="Noto Sans CJK TC"/>
              </a:rPr>
              <a:t>以實測建立下一層證據：現場準確性、服務表現與經濟效益。</a:t>
            </a:r>
          </a:p>
        </p:txBody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F491DCC5-0AEB-4FAC-8C23-A7D906430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0325"/>
            <a:ext cx="904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555B65"/>
                </a:solidFill>
                <a:latin typeface="Noto Sans CJK TC"/>
                <a:ea typeface="Noto Sans CJK TC"/>
                <a:cs typeface="Noto Sans CJK TC"/>
              </a:rPr>
              <a:t>HIGHWAY SWAP SIM  /  模型驗證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9DBE5B6E-5050-4EA3-9326-035A73FA6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817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555B65"/>
                </a:solidFill>
                <a:latin typeface="Noto Sans CJK TC"/>
                <a:ea typeface="Noto Sans CJK TC"/>
                <a:cs typeface="Noto Sans CJK TC"/>
              </a:rPr>
              <a:t>15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457200" y="2038350"/>
          <a:ext xmlns:a="http://schemas.openxmlformats.org/drawingml/2006/main" cx="11277600" cy="3943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0750"/>
                <a:gridCol w="4552950"/>
                <a:gridCol w="4533900"/>
              </a:tblGrid>
              <a:tr h="657225"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驗收項目</a:t>
                      </a:r>
                    </a:p>
                  </a:txBody>
                  <a:tcPr marL="114300" marR="114300" marT="47625" marB="47625" anchor="ctr">
                    <a:solidFill>
                      <a:srgbClr val="EDEDED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現場證據</a:t>
                      </a:r>
                    </a:p>
                  </a:txBody>
                  <a:tcPr marL="114300" marR="114300" marT="47625" marB="47625" anchor="ctr">
                    <a:solidFill>
                      <a:srgbClr val="EDEDED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事先約定的判定</a:t>
                      </a:r>
                    </a:p>
                  </a:txBody>
                  <a:tcPr marL="114300" marR="114300" marT="47625" marB="47625" anchor="ctr">
                    <a:solidFill>
                      <a:srgbClr val="EDEDED"/>
                    </a:solidFill>
                  </a:tcPr>
                </a:tc>
              </a:tr>
              <a:tr h="657225"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能源邊界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來源電表、設備端電量、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輔機耗電、庫存量測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同一量測邊界與時間基準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</a:tr>
              <a:tr h="657225"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事件與服務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到站、開始／完成、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排隊、停機及恢復紀錄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時點誤差及阻擋／暫停行為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</a:tr>
              <a:tr h="657225"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帳單與成本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實際購售電帳单、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設備費與維護成本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計費規則、整分與期間一致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</a:tr>
              <a:tr h="657225"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資料品質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缺失、異常與量測精度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缺值處理與容許誤差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在驗收前共同確認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</a:tr>
              <a:tr h="657225"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情境與收益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需求、價格、效率及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電池壽命情境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報告範圍與敏感度，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1111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不以單一點估計作保證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855923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449E003-6C24-4D24-A615-28842A8C0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1277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111111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600" b="0">
                <a:solidFill>
                  <a:srgbClr val="111111"/>
                </a:solidFill>
                <a:latin typeface="Noto Sans CJK TC"/>
                <a:ea typeface="Noto Sans CJK TC"/>
                <a:cs typeface="Noto Sans CJK TC"/>
              </a:rPr>
              <a:t>每一項結論都能回到版本與證據</a:t>
            </a:r>
          </a:p>
        </p:txBody>
      </p:sp>
      <p:sp>
        <p:nvSpPr>
          <p:cNvPr id="2" name="slide-intro">
            <a:extLst xmlns:a="http://schemas.openxmlformats.org/drawingml/2006/main">
              <a:ext uri="{FF2B5EF4-FFF2-40B4-BE49-F238E27FC236}">
                <a16:creationId xmlns:a16="http://schemas.microsoft.com/office/drawing/2014/main" id="{16EA88BC-A545-48CD-B587-118B01EDC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33475"/>
            <a:ext cx="11277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55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555B65"/>
                </a:solidFill>
                <a:latin typeface="Noto Sans CJK TC"/>
                <a:ea typeface="Noto Sans CJK TC"/>
                <a:cs typeface="Noto Sans CJK TC"/>
              </a:rPr>
              <a:t>v0.3.0 / schema 1.3 / fixture d119bc33a496 / report 9eaaac66465b</a:t>
            </a:r>
          </a:p>
        </p:txBody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A1DEE601-188B-4DD8-A171-AD3FCC963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0325"/>
            <a:ext cx="904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555B65"/>
                </a:solidFill>
                <a:latin typeface="Noto Sans CJK TC"/>
                <a:ea typeface="Noto Sans CJK TC"/>
                <a:cs typeface="Noto Sans CJK TC"/>
              </a:rPr>
              <a:t>HIGHWAY SWAP SIM  /  模型驗證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14D5EE06-719C-4653-B142-F25512789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817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555B65"/>
                </a:solidFill>
                <a:latin typeface="Noto Sans CJK TC"/>
                <a:ea typeface="Noto Sans CJK TC"/>
                <a:cs typeface="Noto Sans CJK TC"/>
              </a:rPr>
              <a:t>16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D871985C-9CE7-43B6-94F4-09E642F72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85975"/>
            <a:ext cx="11277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111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50" b="1">
                <a:solidFill>
                  <a:srgbClr val="111111"/>
                </a:solidFill>
                <a:latin typeface="Noto Sans CJK TC"/>
                <a:ea typeface="Noto Sans CJK TC"/>
                <a:cs typeface="Noto Sans CJK TC"/>
              </a:rPr>
              <a:t>建議報告口徑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13F235FC-C5CA-4943-9916-454EE74A7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05100"/>
            <a:ext cx="112776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11111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0">
                <a:solidFill>
                  <a:srgbClr val="111111"/>
                </a:solidFill>
                <a:latin typeface="Noto Sans CJK TC"/>
                <a:ea typeface="Noto Sans CJK TC"/>
                <a:cs typeface="Noto Sans CJK TC"/>
              </a:rPr>
              <a:t>在已明定模型、輸入、計價與捨入規則下，</a:t>
            </a:r>
          </a:p>
          <a:p xmlns:a="http://schemas.openxmlformats.org/drawingml/2006/main">
            <a:pPr algn="l">
              <a:defRPr sz="2400" b="0">
                <a:solidFill>
                  <a:srgbClr val="111111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0">
                <a:solidFill>
                  <a:srgbClr val="111111"/>
                </a:solidFill>
                <a:latin typeface="Noto Sans CJK TC"/>
                <a:ea typeface="Noto Sans CJK TC"/>
                <a:cs typeface="Noto Sans CJK TC"/>
              </a:rPr>
              <a:t>本輪三組多日案例與獨立基準逐項對帳。</a:t>
            </a:r>
          </a:p>
          <a:p xmlns:a="http://schemas.openxmlformats.org/drawingml/2006/main">
            <a:pPr algn="l">
              <a:defRPr sz="2400" b="0">
                <a:solidFill>
                  <a:srgbClr val="111111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0">
                <a:solidFill>
                  <a:srgbClr val="111111"/>
                </a:solidFill>
                <a:latin typeface="Noto Sans CJK TC"/>
                <a:ea typeface="Noto Sans CJK TC"/>
                <a:cs typeface="Noto Sans CJK TC"/>
              </a:rPr>
              <a:t>結果支持受測案例的計算一致性；</a:t>
            </a:r>
          </a:p>
          <a:p xmlns:a="http://schemas.openxmlformats.org/drawingml/2006/main">
            <a:pPr algn="l">
              <a:defRPr sz="2400" b="0">
                <a:solidFill>
                  <a:srgbClr val="111111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0">
                <a:solidFill>
                  <a:srgbClr val="111111"/>
                </a:solidFill>
                <a:latin typeface="Noto Sans CJK TC"/>
                <a:ea typeface="Noto Sans CJK TC"/>
                <a:cs typeface="Noto Sans CJK TC"/>
              </a:rPr>
              <a:t>實際站點獲利仍須現場資料與完整成本驗證。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E8B902BB-8FC0-48A6-89D9-634C05CB1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57825"/>
            <a:ext cx="11277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55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0">
                <a:solidFill>
                  <a:srgbClr val="555B65"/>
                </a:solidFill>
                <a:latin typeface="Noto Sans CJK TC"/>
                <a:ea typeface="Noto Sans CJK TC"/>
                <a:cs typeface="Noto Sans CJK TC"/>
              </a:rPr>
              <a:t>重現資料：完整輸入  /  逐時能源帳本  /  期末庫存  /  獨立對照結果</a:t>
            </a:r>
          </a:p>
        </p:txBody>
      </p:sp>
    </p:spTree>
    <p:extLst>
      <p:ext uri="{BB962C8B-B14F-4D97-AF65-F5344CB8AC3E}">
        <p14:creationId xmlns:p14="http://schemas.microsoft.com/office/powerpoint/2010/main" val="48438549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2026-09-08T03:39:11.1400000Z</dcterms:created>
  <dcterms:modified xsi:type="dcterms:W3CDTF">2026-09-08T03:39:11.1400000Z</dcterms:modified>
</coreProperties>
</file>