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07a9605d5e4110" /><Relationship Type="http://schemas.openxmlformats.org/officeDocument/2006/relationships/extended-properties" Target="/docProps/app.xml" Id="Rf50a0042846e4f14" /><Relationship Type="http://schemas.openxmlformats.org/officeDocument/2006/relationships/officeDocument" Target="/ppt/presentation.xml" Id="Rc137604d6ab74f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0466b81d9343a4"/>
  </p:sldMasterIdLst>
  <p:notesMasterIdLst>
    <p:notesMasterId xmlns:r="http://schemas.openxmlformats.org/officeDocument/2006/relationships" r:id="Raedcf4db67ef404e"/>
  </p:notesMasterIdLst>
  <p:sldIdLst>
    <p:sldId xmlns:r="http://schemas.openxmlformats.org/officeDocument/2006/relationships" id="256" r:id="Reae40d9d6db4442f"/>
    <p:sldId xmlns:r="http://schemas.openxmlformats.org/officeDocument/2006/relationships" id="257" r:id="R4836e2cc2d944df3"/>
    <p:sldId xmlns:r="http://schemas.openxmlformats.org/officeDocument/2006/relationships" id="258" r:id="Re7e5795df8244003"/>
    <p:sldId xmlns:r="http://schemas.openxmlformats.org/officeDocument/2006/relationships" id="259" r:id="R47731d5a58f9477b"/>
    <p:sldId xmlns:r="http://schemas.openxmlformats.org/officeDocument/2006/relationships" id="260" r:id="Rd7fa964287254fee"/>
    <p:sldId xmlns:r="http://schemas.openxmlformats.org/officeDocument/2006/relationships" id="261" r:id="R2bd796f0790e4393"/>
    <p:sldId xmlns:r="http://schemas.openxmlformats.org/officeDocument/2006/relationships" id="262" r:id="Rafd924dbb19742d5"/>
    <p:sldId xmlns:r="http://schemas.openxmlformats.org/officeDocument/2006/relationships" id="263" r:id="R154c699377dc4e7f"/>
    <p:sldId xmlns:r="http://schemas.openxmlformats.org/officeDocument/2006/relationships" id="264" r:id="Rf03d8b0ea3f54b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4294cc2eed4a5a" /><Relationship Type="http://schemas.openxmlformats.org/officeDocument/2006/relationships/slideMaster" Target="/ppt/slideMasters/slideMaster1.xml" Id="Rad0466b81d9343a4" /><Relationship Type="http://schemas.openxmlformats.org/officeDocument/2006/relationships/notesMaster" Target="/ppt/notesMasters/notesMaster1.xml" Id="Raedcf4db67ef404e" /><Relationship Type="http://schemas.openxmlformats.org/officeDocument/2006/relationships/presProps" Target="/ppt/presProps.xml" Id="R72ba540418b34d2f" /><Relationship Type="http://schemas.openxmlformats.org/officeDocument/2006/relationships/tableStyles" Target="/ppt/tableStyles.xml" Id="Rf66f64af913148bc" /><Relationship Type="http://schemas.openxmlformats.org/officeDocument/2006/relationships/slide" Target="/ppt/slides/slide1.xml" Id="Reae40d9d6db4442f" /><Relationship Type="http://schemas.openxmlformats.org/officeDocument/2006/relationships/slide" Target="/ppt/slides/slide2.xml" Id="R4836e2cc2d944df3" /><Relationship Type="http://schemas.openxmlformats.org/officeDocument/2006/relationships/slide" Target="/ppt/slides/slide3.xml" Id="Re7e5795df8244003" /><Relationship Type="http://schemas.openxmlformats.org/officeDocument/2006/relationships/slide" Target="/ppt/slides/slide4.xml" Id="R47731d5a58f9477b" /><Relationship Type="http://schemas.openxmlformats.org/officeDocument/2006/relationships/slide" Target="/ppt/slides/slide5.xml" Id="Rd7fa964287254fee" /><Relationship Type="http://schemas.openxmlformats.org/officeDocument/2006/relationships/slide" Target="/ppt/slides/slide6.xml" Id="R2bd796f0790e4393" /><Relationship Type="http://schemas.openxmlformats.org/officeDocument/2006/relationships/slide" Target="/ppt/slides/slide7.xml" Id="Rafd924dbb19742d5" /><Relationship Type="http://schemas.openxmlformats.org/officeDocument/2006/relationships/slide" Target="/ppt/slides/slide8.xml" Id="R154c699377dc4e7f" /><Relationship Type="http://schemas.openxmlformats.org/officeDocument/2006/relationships/slide" Target="/ppt/slides/slide9.xml" Id="Rf03d8b0ea3f54b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802f898f2042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f8b431bb48416d" /><Relationship Type="http://schemas.openxmlformats.org/officeDocument/2006/relationships/notesMaster" Target="/ppt/notesMasters/notesMaster1.xml" Id="R233522ac39e24b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4ff297a24a4216" /><Relationship Type="http://schemas.openxmlformats.org/officeDocument/2006/relationships/notesMaster" Target="/ppt/notesMasters/notesMaster1.xml" Id="R8b3baa81c8b24c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cb6899530f468b" /><Relationship Type="http://schemas.openxmlformats.org/officeDocument/2006/relationships/notesMaster" Target="/ppt/notesMasters/notesMaster1.xml" Id="R1830ea3257a54a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07024b775549d6" /><Relationship Type="http://schemas.openxmlformats.org/officeDocument/2006/relationships/notesMaster" Target="/ppt/notesMasters/notesMaster1.xml" Id="R4fd390ec9b9148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129b7a0f214c54" /><Relationship Type="http://schemas.openxmlformats.org/officeDocument/2006/relationships/notesMaster" Target="/ppt/notesMasters/notesMaster1.xml" Id="R165fdf050cdb46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4ef19069944500" /><Relationship Type="http://schemas.openxmlformats.org/officeDocument/2006/relationships/notesMaster" Target="/ppt/notesMasters/notesMaster1.xml" Id="Rb4907d93fdb44e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965dd0fe77437e" /><Relationship Type="http://schemas.openxmlformats.org/officeDocument/2006/relationships/notesMaster" Target="/ppt/notesMasters/notesMaster1.xml" Id="R60c235ad3ab64f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5f457eb9784bd7" /><Relationship Type="http://schemas.openxmlformats.org/officeDocument/2006/relationships/notesMaster" Target="/ppt/notesMasters/notesMaster1.xml" Id="Rc51da32d06c442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f35940dba14942" /><Relationship Type="http://schemas.openxmlformats.org/officeDocument/2006/relationships/notesMaster" Target="/ppt/notesMasters/notesMaster1.xml" Id="R5fab910fee444a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本簡報為模型驗證記錄，不是現場驗收證書或獲利保證。三案來自 simulateDetailed 完整引擎輸出，並與獨立 Python Decimal70 預期值比較。</a:t>
            </a:r>
          </a:p>
          <a:p xmlns:a="http://schemas.openxmlformats.org/drawingml/2006/main">
            <a:r>
              <a:t>發布源碼以隨附 detailed-comparison.json 的 sourceSHA256 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證據來源</a:t>
            </a:r>
          </a:p>
          <a:p xmlns:a="http://schemas.openxmlformats.org/drawingml/2006/main">
            <a:r>
              <a:t>docs/evidence/v0.6.0/detailed-comparison.json</a:t>
            </a:r>
          </a:p>
          <a:p xmlns:a="http://schemas.openxmlformats.org/drawingml/2006/main">
            <a:r>
              <a:t>docs/evidence/v0.6.0/BOUNDARY_REVIEW.md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本頁描述已接入的模型能力，並不表示任意參數組合均已验证，也不宣稱完成短路或暫態穩定認證。原圖增補外接16槍，加既有獨立8槍合24。預設DD回充與外槍互斥，可改同時共享，矩陣是待設備方核定的假設。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證據來源</a:t>
            </a:r>
          </a:p>
          <a:p xmlns:a="http://schemas.openxmlformats.org/drawingml/2006/main">
            <a:r>
              <a:t>packages/detailed-network/topology.ts</a:t>
            </a:r>
          </a:p>
          <a:p xmlns:a="http://schemas.openxmlformats.org/drawingml/2006/main">
            <a:r>
              <a:t>packages/detailed-model/defaults.ts</a:t>
            </a:r>
          </a:p>
          <a:p xmlns:a="http://schemas.openxmlformats.org/drawingml/2006/main">
            <a:r>
              <a:t>packages/detailed-model/contracts.ts</a:t>
            </a:r>
          </a:p>
          <a:p xmlns:a="http://schemas.openxmlformats.org/drawingml/2006/main">
            <a:r>
              <a:t>packages/physical-models/index.ts</a:t>
            </a:r>
          </a:p>
          <a:p xmlns:a="http://schemas.openxmlformats.org/drawingml/2006/main">
            <a:r>
              <a:t>packages/service-fleet/index.ts</a:t>
            </a:r>
          </a:p>
          <a:p xmlns:a="http://schemas.openxmlformats.org/drawingml/2006/main">
            <a:r>
              <a:t>packages/extended-finance/index.ts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CSV 使用 path,type,value 結構保存 null、物件和陣列。完整設定匯入採批次驗證，未知版本或欄位拒絕。調整拓撲選擇「套用並重建」會取代手動接線，須先備份。參數快照XLSX往返與變更拒絕已於 detailed-model.test.ts 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證據來源</a:t>
            </a:r>
          </a:p>
          <a:p xmlns:a="http://schemas.openxmlformats.org/drawingml/2006/main">
            <a:r>
              <a:t>packages/detailed-profile/index.ts</a:t>
            </a:r>
          </a:p>
          <a:p xmlns:a="http://schemas.openxmlformats.org/drawingml/2006/main">
            <a:r>
              <a:t>packages/detailed-model/readiness.ts</a:t>
            </a:r>
          </a:p>
          <a:p xmlns:a="http://schemas.openxmlformats.org/drawingml/2006/main">
            <a:r>
              <a:t>components/simulator/detailed-settings.tsx</a:t>
            </a:r>
          </a:p>
          <a:p xmlns:a="http://schemas.openxmlformats.org/drawingml/2006/main">
            <a:r>
              <a:t>tests/detailed-model.test.ts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日00:00一筆A重卡換電，7.5min後交付60kWh並回充。A外接80kWh與B40kWh同刻到站。A先得40kW一小时，rack滿後得80kW半小时。B第二日支路恢復延後一小时。所有電價為合成測試假設。18項獨立比較及3963項原始帳目比較全通過。</a:t>
            </a:r>
          </a:p>
          <a:p xmlns:a="http://schemas.openxmlformats.org/drawingml/2006/main">
            <a:r>
              <a:t>{"id":"V04_PROJECT_SHARED_DD_TIE_3D","checks":18,"maxDelta":7.498925924664945e-10,"allPassed":true,"rows":[{"name":"detailedEnergyBalance","actual":9.094947017729282e-13,"expected":0,"delta":9.094947017729282e-13},{"name":"fleetInventoryBalance","actual":0,"expected":0,"delta":0},{"name":"gridKWh","actual":580.0214822771219,"expected":580.0214822771213,"delta":5.684341886080801e-13},{"name":"lossKWh","actual":40.02148227712141,"expected":40.02148227712137,"delta":3.552713678800501e-14},{"name":"delivery","actual":539.9999999999995,"expected":540,"delta":4.547473508864641e-13},{"name":"revenue","actual":540,"expected":540,"delta":0},{"name":"completed","actual":9,"expected":9,"delta":0},{"name":"initialStock","actual":200,"expected":200,"delta":0},{"name":"finalStock","actual":200,"expected":200,"delta":0},{"name":"swapCompletion0","actual":7.5,"expected":7.5,"delta":0},{"name":"aCompletion0","actual":97.49999999925011,"expected":97.5,"delta":7.498925924664945e-10},{"name":"bCompletion0","actual":67.5,"expected":67.5,"delta":0},{"name":"swapCompletion1","actual":1447.5,"expected":1447.5,"delta":0},{"name":"aCompletion1","actual":1537.4999999992501,"expected":1537.5,"delta":7.498783816117793e-10},{"name":"bCompletion1","actual":1567.5,"expected":1567.5,"delta":0},{"name":"swapCompletion2","actual":2887.5,"expected":2887.5,"delta":0},{"name":"aCompletion2","actual":2977.49999999925,"expected":2977.5,"delta":7.498783816117793e-10},{"name":"bCompletion2","actual":2947.5,"expected":2947.5,"delta":0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證據來源</a:t>
            </a:r>
          </a:p>
          <a:p xmlns:a="http://schemas.openxmlformats.org/drawingml/2006/main">
            <a:r>
              <a:t>packages/detailed-verification/index.ts::v04Project</a:t>
            </a:r>
          </a:p>
          <a:p xmlns:a="http://schemas.openxmlformats.org/drawingml/2006/main">
            <a:r>
              <a:t>data/verification/detailed-expected.json</a:t>
            </a:r>
          </a:p>
          <a:p xmlns:a="http://schemas.openxmlformats.org/drawingml/2006/main">
            <a:r>
              <a:t>docs/evidence/v0.6.0/detailed-comparison.json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日日間PV120kWh可用，MPPT90%，負載40，ESS吸收50，實際採集100，棄20。ESS50→95→50。UPS20→10→20，reserve50%，每日購電12.5，4日50。損耗MPPT40+ESS56+UPS18=114。期末儲能無消耗初值套利。ATS採零切換延時，非零延時另需邊界測試。11項獨立比較及9987項帳目比較通過。</a:t>
            </a:r>
          </a:p>
          <a:p xmlns:a="http://schemas.openxmlformats.org/drawingml/2006/main">
            <a:r>
              <a:t>{"id":"V05_PROJECT_PV_ESS_UPS_4D","checks":11,"maxDelta":1.0800249583553523e-12,"allPassed":true,"rows":[{"name":"detailedEnergyBalance","actual":1.0231815394945443e-12,"expected":0,"delta":1.0231815394945443e-12},{"name":"fleetInventoryBalance","actual":0,"expected":0,"delta":0},{"name":"grid","actual":50.000000000000036,"expected":50,"delta":3.552713678800501e-14},{"name":"pvGeneration","actual":400.0000000000011,"expected":400,"delta":1.0800249583553523e-12},{"name":"totalLoss","actual":114.00000000000003,"expected":114,"delta":2.842170943040401e-14},{"name":"auxTerminal","actual":336.0000000000001,"expected":336,"delta":1.1368683772161603e-13},{"name":"storageInitial","actual":70,"expected":70,"delta":0},{"name":"storageFinal","actual":70,"expected":70,"delta":0},{"name":"curtail","actual":79.99999999999994,"expected":80,"delta":5.684341886080802e-14},{"name":"A-ess.final","actual":50,"expected":50,"delta":0},{"name":"A-ups.final","actual":20,"expected":20,"delta":0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證據來源</a:t>
            </a:r>
          </a:p>
          <a:p xmlns:a="http://schemas.openxmlformats.org/drawingml/2006/main">
            <a:r>
              <a:t>packages/detailed-verification/index.ts::v05Project</a:t>
            </a:r>
          </a:p>
          <a:p xmlns:a="http://schemas.openxmlformats.org/drawingml/2006/main">
            <a:r>
              <a:t>data/verification/detailed-expected.json</a:t>
            </a:r>
          </a:p>
          <a:p xmlns:a="http://schemas.openxmlformats.org/drawingml/2006/main">
            <a:r>
              <a:t>docs/evidence/v0.6.0/detailed-comparison.json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乘用採14倉，每顆100kWh、450秒作業，是合成測試值，非CATL官方實機參數。乘用5筆500kWh，其他20筆525kWh。來源A875kWh、B150kWh。A容量費1000kVA×2元/月，B需量费80kW×3元/月。Jan2/31、Feb3/28分攤，基本費384.51；REQUIRE_FULL_MONTH時應未定。來源×小時 HALF_UP使電量費557.55，不是日合計草稿557.50。21項獨立比較及19803項帳目比較全通過。</a:t>
            </a:r>
          </a:p>
          <a:p xmlns:a="http://schemas.openxmlformats.org/drawingml/2006/main">
            <a:r>
              <a:t>{"id":"V06_PROJECT_PASSENGER_TARIFF_5D","checks":21,"maxDelta":3.637978807091713e-12,"allPassed":true,"rows":[{"name":"detailedEnergyBalance","actual":6.821210263296962e-13,"expected":0,"delta":6.821210263296962e-13},{"name":"fleetInventoryBalance","actual":-3.637978807091713e-12,"expected":0,"delta":3.637978807091713e-12},{"name":"grid","actual":1025.0000000000002,"expected":1025,"delta":2.2737367544323206e-13},{"name":"delivered","actual":1024.9999999999995,"expected":1025,"delta":4.547473508864641e-13},{"name":"revenue","actual":1025,"expected":1025,"delta":0},{"name":"sourceHourEnergyBill","actual":557.55,"expected":557.55,"delta":0},{"name":"loss","actual":0,"expected":0,"delta":0},{"name":"initialStock14slotsPlusTruck","actual":1600,"expected":1600,"delta":0},{"name":"finalStock14slotsPlusTruck","actual":1600,"expected":1600,"delta":0},{"name":"passengerCount","actual":5,"expected":5,"delta":0},{"name":"passengerComplete0","actual":547.5,"expected":547.5,"delta":0},{"name":"passengerComplete1","actual":1987.5,"expected":1987.5,"delta":0},{"name":"passengerComplete2","actual":3427.5,"expected":3427.5,"delta":0},{"name":"passengerComplete3","actual":4867.5,"expected":4867.5,"delta":0},{"name":"passengerComplete4","actual":6307.5,"expected":6307.5,"delta":0},{"name":"estimatedInvoice","actual":942.06,"expected":942.06,"delta":0},{"name":"cashContribution","actual":82.94000000000005,"expected":82.94,"delta":5.684341886080802e-14},{"name":"A-grid.2026-01.15minutePeak","actual":200,"expected":200,"delta":0},{"name":"A-grid.2026-02.15minutePeak","actual":200,"expected":200,"delta":0},{"name":"B-grid.2026-01.15minutePeak","actual":80,"expected":80,"delta":0},{"name":"B-grid.2026-02.15minutePeak","actual":80,"expected":80,"delta":0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證據來源</a:t>
            </a:r>
          </a:p>
          <a:p xmlns:a="http://schemas.openxmlformats.org/drawingml/2006/main">
            <a:r>
              <a:t>packages/detailed-verification/index.ts::v06Project</a:t>
            </a:r>
          </a:p>
          <a:p xmlns:a="http://schemas.openxmlformats.org/drawingml/2006/main">
            <a:r>
              <a:t>data/verification/calculate-detailed.py</a:t>
            </a:r>
          </a:p>
          <a:p xmlns:a="http://schemas.openxmlformats.org/drawingml/2006/main">
            <a:r>
              <a:t>docs/evidence/v0.6.0/detailed-comparison.json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檢查數目是assertions數，不是隨機情境數。33,803=50 oracle+33,753 ledgers。容差absolute1e-6，金額按既定分組至分。主三案allPassed=true，證據附timestamp及被測源碼SHA256。此頁不宣稱所有參數組合、實機誤差或所有UI工作流程均涵蓋。</a:t>
            </a:r>
          </a:p>
          <a:p xmlns:a="http://schemas.openxmlformats.org/drawingml/2006/main">
            <a:r>
              <a:t>發布源碼以 docs/evidence/v0.6.0/detailed-comparison.json 的 sourceSHA256 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證據來源</a:t>
            </a:r>
          </a:p>
          <a:p xmlns:a="http://schemas.openxmlformats.org/drawingml/2006/main">
            <a:r>
              <a:t>docs/evidence/v0.6.0/detailed-comparison.json</a:t>
            </a:r>
          </a:p>
          <a:p xmlns:a="http://schemas.openxmlformats.org/drawingml/2006/main">
            <a:r>
              <a:t>docs/evidence/v0.6.0/BOUNDARY_REVIEW.md</a:t>
            </a:r>
          </a:p>
          <a:p xmlns:a="http://schemas.openxmlformats.org/drawingml/2006/main">
            <a:r>
              <a:t>data/verification/calculate-detailed.py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已記錄的修正後回歸位於tests/detailed-model.test.ts。800V profile testcase故意保留legacy車壓637.56V以阻止復發。ESS會計政策將轉換损耗隨取得成本資本化，A期末95kWh值50元、B100kWh值50元，全站能源費用本例0。PV MPPT90%、逆變80%、輸出額定50、出口48、價0.25。表中的source code order錯誤屬驗證時真實發現，而非虛構案例。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證據來源</a:t>
            </a:r>
          </a:p>
          <a:p xmlns:a="http://schemas.openxmlformats.org/drawingml/2006/main">
            <a:r>
              <a:t>docs/evidence/v0.6.0/BOUNDARY_REVIEW.md</a:t>
            </a:r>
          </a:p>
          <a:p xmlns:a="http://schemas.openxmlformats.org/drawingml/2006/main">
            <a:r>
              <a:t>tests/detailed-model.test.ts</a:t>
            </a:r>
          </a:p>
          <a:p xmlns:a="http://schemas.openxmlformats.org/drawingml/2006/main">
            <a:r>
              <a:t>packages/detailed-verification/index.ts::pvExportGoldenProject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者需將grid與PV視為外部來源，ESS/UPS與換電庫存屬内部state。累計期間應核對外部輸入+庫存減少=末端交付+辅助+損耗+逆送。結果與參數來自相同snapshot。現場驗收需事先約定kWh誤差、資料期間與异常工況，保留未校準/未知標記。v0.6仍是能量級準靜態模型，不是EMT、短路保護協調認證或實際利潤保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證據來源</a:t>
            </a:r>
          </a:p>
          <a:p xmlns:a="http://schemas.openxmlformats.org/drawingml/2006/main">
            <a:r>
              <a:t>components/simulator/detailed-settings.tsx</a:t>
            </a:r>
          </a:p>
          <a:p xmlns:a="http://schemas.openxmlformats.org/drawingml/2006/main">
            <a:r>
              <a:t>docs/evidence/v0.6.0/ACCEPTANCE_MATRIX.md</a:t>
            </a:r>
          </a:p>
          <a:p xmlns:a="http://schemas.openxmlformats.org/drawingml/2006/main">
            <a:r>
              <a:t>docs/evidence/v0.6.0/BOUNDARY_REVIEW.md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2986d360c40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8bef10eaf64f78" /><Relationship Type="http://schemas.openxmlformats.org/officeDocument/2006/relationships/slideLayout" Target="/ppt/slideLayouts/slideLayout1.xml" Id="R6c4ee055249444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4ee055249444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3e0f4e5934928" /><Relationship Type="http://schemas.openxmlformats.org/officeDocument/2006/relationships/notesSlide" Target="/ppt/notesSlides/notesSlide1.xml" Id="Rd030c46908c54c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8ad5f298542b3" /><Relationship Type="http://schemas.openxmlformats.org/officeDocument/2006/relationships/notesSlide" Target="/ppt/notesSlides/notesSlide2.xml" Id="Rf3b3a66ff3554e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9d6c590834183" /><Relationship Type="http://schemas.openxmlformats.org/officeDocument/2006/relationships/notesSlide" Target="/ppt/notesSlides/notesSlide3.xml" Id="R3d21d717e16346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2ea027fc84aa1" /><Relationship Type="http://schemas.openxmlformats.org/officeDocument/2006/relationships/notesSlide" Target="/ppt/notesSlides/notesSlide4.xml" Id="R52982f602f9342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30e20baf84071" /><Relationship Type="http://schemas.openxmlformats.org/officeDocument/2006/relationships/notesSlide" Target="/ppt/notesSlides/notesSlide5.xml" Id="R6df0539721a74a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4af01cc794ed4" /><Relationship Type="http://schemas.openxmlformats.org/officeDocument/2006/relationships/notesSlide" Target="/ppt/notesSlides/notesSlide6.xml" Id="R77910c46935a4f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04351b84a49d3" /><Relationship Type="http://schemas.openxmlformats.org/officeDocument/2006/relationships/notesSlide" Target="/ppt/notesSlides/notesSlide7.xml" Id="R301ac831377a49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6e9dda6744496" /><Relationship Type="http://schemas.openxmlformats.org/officeDocument/2006/relationships/notesSlide" Target="/ppt/notesSlides/notesSlide8.xml" Id="Re6f9e3f2d8cb42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b789f9a0642af" /><Relationship Type="http://schemas.openxmlformats.org/officeDocument/2006/relationships/notesSlide" Target="/ppt/notesSlides/notesSlide9.xml" Id="R4e3cb2d2eb6a41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A5037-82F0-463F-B6FE-5F674BF8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HighwaySwapSim v0.6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EA21C-1D98-4E63-93D9-CBCC8579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HighwaySwapSim v0.6  驗證記錄     1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2BE4C-118E-4603-90B7-4B14E038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1104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00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完整能量流與獲利測算</a:t>
            </a:r>
          </a:p>
          <a:p xmlns:a="http://schemas.openxmlformats.org/drawingml/2006/main">
            <a:pPr algn="l">
              <a:defRPr sz="4500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00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驗證說明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828EA-4CDF-4433-A125-6E402D2A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861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rPr>
              <a:t>3 日、4 日、5 日完整引擎案例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4D15C-4AD2-48CB-A8F9-6DF52BC8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33,803 項已記錄比較通過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FDA72-BA2E-42DD-BAD7-C59D2F83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結論限於指定版本、參數與案例。</a:t>
            </a:r>
          </a:p>
          <a:p xmlns:a="http://schemas.openxmlformats.org/drawingml/2006/main">
            <a:pPr algn="l">
              <a:defRPr sz="20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現場設備與實際獲利仍需資料校準。</a:t>
            </a:r>
          </a:p>
        </p:txBody>
      </p:sp>
    </p:spTree>
    <p:extLst>
      <p:ext uri="{BB962C8B-B14F-4D97-AF65-F5344CB8AC3E}">
        <p14:creationId xmlns:p14="http://schemas.microsoft.com/office/powerpoint/2010/main" val="1263312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32BA7-D8E6-47EE-8064-368365BA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原圖缺口已接入完整模型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D9A6C-0AA5-4524-9B36-FE6C9019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新增能力依使用者啟用的模型與已填參數生效。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E2C34-9698-4762-8639-5B19E09F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HighwaySwapSim v0.6  驗證記錄     2 / 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33400" y="1733550"/>
          <a:ext xmlns:a="http://schemas.openxmlformats.org/drawingml/2006/main" cx="111252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6191250"/>
                <a:gridCol w="3076575"/>
              </a:tblGrid>
              <a:tr h="6604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範圍</a:t>
                      </a:r>
                    </a:p>
                  </a:txBody>
                  <a:tcPr marL="133350" marR="133350" marT="28575" marB="285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v0.6 測算內容</a:t>
                      </a:r>
                    </a:p>
                  </a:txBody>
                  <a:tcPr marL="133350" marR="133350" marT="28575" marB="285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驗證依據</a:t>
                      </a:r>
                    </a:p>
                  </a:txBody>
                  <a:tcPr marL="133350" marR="133350" marT="28575" marB="28575" anchor="ctr">
                    <a:solidFill>
                      <a:srgbClr val="007EB6"/>
                    </a:solidFill>
                  </a:tcPr>
                </a:tc>
              </a:tr>
              <a:tr h="6604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完整接線</a:t>
                      </a:r>
                    </a:p>
                  </a:txBody>
                  <a:tcPr marL="133350" marR="1333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24 槍、12 終端、換電 DD 共用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倉 1–2 PCS，倉 3–8 SST</a:t>
                      </a:r>
                    </a:p>
                  </a:txBody>
                  <a:tcPr marL="133350" marR="1333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共享限制、母聯事件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V04</a:t>
                      </a:r>
                    </a:p>
                  </a:txBody>
                  <a:tcPr marL="133350" marR="133350" marT="28575" marB="28575" anchor="ctr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設備物理</a:t>
                      </a:r>
                    </a:p>
                  </a:txBody>
                  <a:tcPr marL="133350" marR="133350" marT="28575" marB="285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線損、效率曲線、熱與降額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無功補償、定時保護</a:t>
                      </a:r>
                    </a:p>
                  </a:txBody>
                  <a:tcPr marL="133350" marR="133350" marT="28575" marB="285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物理單元與邊界回歸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各模型另需實測參數</a:t>
                      </a:r>
                    </a:p>
                  </a:txBody>
                  <a:tcPr marL="133350" marR="133350" marT="28575" marB="28575" anchor="ctr">
                    <a:solidFill>
                      <a:srgbClr val="EDF5F7"/>
                    </a:solidFill>
                  </a:tcPr>
                </a:tc>
              </a:tr>
              <a:tr h="6604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備援與再生能源</a:t>
                      </a:r>
                    </a:p>
                  </a:txBody>
                  <a:tcPr marL="133350" marR="1333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PV／MPPT、ESS、UPS、ATS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發電、儲能與逆送分帳</a:t>
                      </a:r>
                    </a:p>
                  </a:txBody>
                  <a:tcPr marL="133350" marR="1333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連續 4 日 V05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PV 逆送獨立回歸</a:t>
                      </a:r>
                    </a:p>
                  </a:txBody>
                  <a:tcPr marL="133350" marR="133350" marT="28575" marB="28575" anchor="ctr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車輛與庫存</a:t>
                      </a:r>
                    </a:p>
                  </a:txBody>
                  <a:tcPr marL="133350" marR="133350" marT="28575" marB="285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逐車 SOC、雙槍占用、乘用換電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個別電池與服務排程</a:t>
                      </a:r>
                    </a:p>
                  </a:txBody>
                  <a:tcPr marL="133350" marR="133350" marT="28575" marB="285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V04、V06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800 V 動態限流回歸</a:t>
                      </a:r>
                    </a:p>
                  </a:txBody>
                  <a:tcPr marL="133350" marR="133350" marT="28575" marB="28575" anchor="ctr">
                    <a:solidFill>
                      <a:srgbClr val="EDF5F7"/>
                    </a:solidFill>
                  </a:tcPr>
                </a:tc>
              </a:tr>
              <a:tr h="6604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成本與收益</a:t>
                      </a:r>
                    </a:p>
                  </a:txBody>
                  <a:tcPr marL="133350" marR="1333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來源電表、跨月費用、存貨價值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設備成本與財務缺值檢查</a:t>
                      </a:r>
                    </a:p>
                  </a:txBody>
                  <a:tcPr marL="133350" marR="1333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V06、ESS 內部轉撥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參數完整性檢核</a:t>
                      </a:r>
                    </a:p>
                  </a:txBody>
                  <a:tcPr marL="133350" marR="13335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EAB59-92BA-49D7-A4D4-2F8D535E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DD 共用矩陣、額定側及實機曲線仍需設備方確認，設定中的假設會保留來源。</a:t>
            </a:r>
          </a:p>
        </p:txBody>
      </p:sp>
    </p:spTree>
    <p:extLst>
      <p:ext uri="{BB962C8B-B14F-4D97-AF65-F5344CB8AC3E}">
        <p14:creationId xmlns:p14="http://schemas.microsoft.com/office/powerpoint/2010/main" val="1753828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D1133-3413-4712-B0D8-B2123F51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未知參數與匯入匯出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9F3A9-52C7-40E0-913A-82671064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空白、零與停用保留不同語義，必要缺值會指向具體欄位。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F3C2D-AC59-4C28-87DA-9E13363C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HighwaySwapSim v0.6  驗證記錄     3 / 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33400" y="1895475"/>
          <a:ext xmlns:a="http://schemas.openxmlformats.org/drawingml/2006/main" cx="111252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5505450"/>
              </a:tblGrid>
              <a:tr h="5905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設定值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模型含義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系統行為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</a:tr>
              <a:tr h="5905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null／待填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未知，尚無可採用數值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保留草稿；啟用的物理模型缺必要值時停止測算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使用者明確確認為零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依零值計算，例如理想線阻或無額外成本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  <a:tr h="5905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enabled = false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此模型不啟用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不套用該模型，避免擅自補出設備能力或收益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BB680-9601-451F-9F8C-36B2F3FF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43425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完整模型 JSON／CSV 保存全部巢狀設定、曲線與事件。</a:t>
            </a:r>
          </a:p>
          <a:p xmlns:a="http://schemas.openxmlformats.org/drawingml/2006/main">
            <a:pPr algn="l">
              <a:def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結果 XLSX 保存最後成功測算的參數快照及結果帳。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11575-0702-46B0-8A7C-FFD977A4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設定變更後須重新測算；新草稿不可冒用舊結果。</a:t>
            </a:r>
          </a:p>
          <a:p xmlns:a="http://schemas.openxmlformats.org/drawingml/2006/main">
            <a:pPr algn="l">
              <a:def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缺少成本時，物理結果仍可驗算，完整財務結論會保留未定。</a:t>
            </a:r>
          </a:p>
        </p:txBody>
      </p:sp>
    </p:spTree>
    <p:extLst>
      <p:ext uri="{BB962C8B-B14F-4D97-AF65-F5344CB8AC3E}">
        <p14:creationId xmlns:p14="http://schemas.microsoft.com/office/powerpoint/2010/main" val="15320207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F69B8-5A05-40CD-8D10-7711E918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V04：3 日共用 DD 與母聯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BB11F-3A9A-4E46-B62D-3F5E8103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A 倉 60 kW 與外槍共用 100 kW DD；第 2 日 B 支路延後恢復。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A869D-18D8-421E-9F09-11C5E4AE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HighwaySwapSim v0.6  驗證記錄     4 / 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3324225"/>
                <a:gridCol w="3324225"/>
              </a:tblGrid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 日指標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獨立預期（3 日）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引擎輸出（3 日）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交付電量 kWh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540.000000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540.000000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購電量 kWh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580.021482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580.021482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轉換損耗 kWh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40.021482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40.021482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完成服務 筆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營收 CNY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540.00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540.00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期初／期末庫存 kWh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 / 200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 / 200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9178C-C930-45D3-B758-C374985C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1108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rPr>
              <a:t>540 ÷ (0.98 × 0.95) = 580.021482 kWh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4B5ED-F102-40E7-86CB-5826F0D1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A 車完成：每日起算 97.5 分鐘。B 車：67.5／127.5／67.5 分鐘。</a:t>
            </a:r>
          </a:p>
          <a:p xmlns:a="http://schemas.openxmlformats.org/drawingml/2006/main">
            <a:pPr algn="l">
              <a:def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共享 DD 優先回充，母聯開路期間不提供 B 側電力。</a:t>
            </a:r>
          </a:p>
        </p:txBody>
      </p:sp>
    </p:spTree>
    <p:extLst>
      <p:ext uri="{BB962C8B-B14F-4D97-AF65-F5344CB8AC3E}">
        <p14:creationId xmlns:p14="http://schemas.microsoft.com/office/powerpoint/2010/main" val="1385894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23409-1BD6-41D9-AF4A-9D2C48C5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V05：4 日 PV、ESS 與 UPS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D86E1-DA8A-4FCD-8175-9271A15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ESS 與 UPS 位於分開的供電區域，跨日 SOC 延續且受備援保留量限制。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12F9D-4534-4815-80B7-B25C298C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HighwaySwapSim v0.6  驗證記錄     5 / 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3324225"/>
                <a:gridCol w="3324225"/>
              </a:tblGrid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 日指標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獨立預期（4 日）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引擎輸出（4 日）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實際採集 PV kWh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400.000000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400.000000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購電量 kWh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50.000000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50.000000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末端負載 kWh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336.000000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336.000000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全部轉換損耗 kWh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114.000000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114.000000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棄光 kWh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80.000000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80.000000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ESS＋UPS 期初／期末 kWh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70 / 70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70 / 70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5A9E0-FA6C-44F1-9E14-A9BF206B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1108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rPr>
              <a:t>400 + 50 = 336 + 114 kWh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A6639-5957-4945-87C6-DCF67F4A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棄光 80 kWh 另列，不能再加進已採集能量的損耗。</a:t>
            </a:r>
          </a:p>
          <a:p xmlns:a="http://schemas.openxmlformats.org/drawingml/2006/main">
            <a:pPr algn="l">
              <a:def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第 3 日停電延長，UPS 到保留 SOC 後仍有 8 kWh 負載未供。</a:t>
            </a:r>
          </a:p>
        </p:txBody>
      </p:sp>
    </p:spTree>
    <p:extLst>
      <p:ext uri="{BB962C8B-B14F-4D97-AF65-F5344CB8AC3E}">
        <p14:creationId xmlns:p14="http://schemas.microsoft.com/office/powerpoint/2010/main" val="1950442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BD5EA-8E80-4FCE-A0A7-3539E1D7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V06：5 日乘用服務與跨月計費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CAF68-6570-4AAC-87EE-8816451D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2026/01/30–02/03；合成電價，部分月份採明示按觀測日分攤。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33BF9-8B97-4A72-8895-18F9D1D4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HighwaySwapSim v0.6  驗證記錄     6 / 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3324225"/>
                <a:gridCol w="3324225"/>
              </a:tblGrid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 日指標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獨立預期（5 日）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引擎輸出（5 日）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交付／購電量 kWh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1,025.000000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1,025.000000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乘用車換電 筆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全服務營收 CNY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1,025.00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1,025.00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來源逐時電量費 CNY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557.55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557.55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含基本費估計 CNY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942.06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942.06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本例現金貢獻 CNY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82.94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82.94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A7344-957E-4AB9-A1C5-AE889F11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1108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rPr>
              <a:t>557.55 + 384.51 = 942.06 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42ED4-A8B1-4FA3-A33F-F854CF84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觀測 15 分鐘峰值：A 200 kW、B 80 kW，不能冒稱實際整月峰值。</a:t>
            </a:r>
          </a:p>
          <a:p xmlns:a="http://schemas.openxmlformats.org/drawingml/2006/main">
            <a:pPr algn="l">
              <a:def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82.94 元是本合成案例現金貢獻，未代表真實站點淨利。</a:t>
            </a:r>
          </a:p>
        </p:txBody>
      </p:sp>
    </p:spTree>
    <p:extLst>
      <p:ext uri="{BB962C8B-B14F-4D97-AF65-F5344CB8AC3E}">
        <p14:creationId xmlns:p14="http://schemas.microsoft.com/office/powerpoint/2010/main" val="63991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CFC5E-E414-4B43-A511-CF1A5F23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33,803 項檢查的組成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03BB6-F9AB-40A5-817E-127B5FF0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獨立計算器不匯入模擬器函式，實際值來自完整 simulateDetailed 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43EDA-B4C6-43EE-8B42-D90AF711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HighwaySwapSim v0.6  驗證記錄     7 / 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33400" y="1828800"/>
          <a:ext xmlns:a="http://schemas.openxmlformats.org/drawingml/2006/main" cx="111252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590800"/>
                <a:gridCol w="3295650"/>
                <a:gridCol w="2381250"/>
              </a:tblGrid>
              <a:tr h="54483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案例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獨立數值／事件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逐節點／邊／電表帳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合計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</a:tr>
              <a:tr h="54483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V04  3 日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18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3,963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3,981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V05  4 日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11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9,987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9,998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  <a:tr h="54483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V06  5 日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21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19,803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19,824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合計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33,753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33,803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8F99C-51EE-4B04-876B-86AC93EA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rPr>
              <a:t>獨立比較最大差 7.50 × 10⁻¹⁰ 分鐘</a:t>
            </a:r>
          </a:p>
          <a:p xmlns:a="http://schemas.openxmlformats.org/drawingml/2006/main">
            <a:pPr algn="l">
              <a:defRPr sz="2325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rPr>
              <a:t>原始帳目最大差 3.42 × 10⁻¹³ kWh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5F0E2-05F6-48A2-BA79-2C0243E5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金額依相同結算單位與 HALF_UP 精確對齊至分。</a:t>
            </a:r>
          </a:p>
          <a:p xmlns:a="http://schemas.openxmlformats.org/drawingml/2006/main">
            <a:pPr algn="l">
              <a:def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原 V01–V03 的 47,489 項比較另行保留，不混入本頁總數。</a:t>
            </a:r>
          </a:p>
        </p:txBody>
      </p:sp>
    </p:spTree>
    <p:extLst>
      <p:ext uri="{BB962C8B-B14F-4D97-AF65-F5344CB8AC3E}">
        <p14:creationId xmlns:p14="http://schemas.microsoft.com/office/powerpoint/2010/main" val="2519605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16D00-27CB-4AE6-A043-9A50032A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發現問題、修正與回歸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A003B-C9A5-4A14-A842-29080D0F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保留失敗現象，使用獨立預期值確認修正結果。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370EE-05E2-4D45-BAD5-09E68EF2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HighwaySwapSim v0.6  驗證記錄     8 / 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33400" y="1819275"/>
          <a:ext xmlns:a="http://schemas.openxmlformats.org/drawingml/2006/main" cx="111252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2650"/>
                <a:gridCol w="4238625"/>
                <a:gridCol w="4733925"/>
              </a:tblGrid>
              <a:tr h="71247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問題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修正前影響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修正後驗證</a:t>
                      </a:r>
                    </a:p>
                  </a:txBody>
                  <a:tcPr marL="133350" marR="133350" marT="66675" marB="66675" anchor="ctr">
                    <a:solidFill>
                      <a:srgbClr val="007EB6"/>
                    </a:solidFill>
                  </a:tcPr>
                </a:tc>
              </a:tr>
              <a:tr h="71247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800 V 車端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二次限流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舊 637.56 V 再次限額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100 kWh 需 15.6848 分鐘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480 kW，12.5 分鐘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動態 profile 限額通過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ESS 內部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能源轉撥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庫存取得成本誤當外購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購電 0 卻觸發成本錯誤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100 kWh ESS 轉入 95 kWh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損耗 5 kWh，內部 50 元抵消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  <a:tr h="71247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PV 逆送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限額與收入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exportLimit 曾未進入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真實出口路徑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輸出 48 kWh、收入 12 元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無 PV 時不可轉售購電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快照與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設備狀態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欄位順序誤判匯出差異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停用母線誤判為可達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XLSX 快照往返一致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52D3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ATS、線纜 1 A 限制回歸</a:t>
                      </a:r>
                    </a:p>
                  </a:txBody>
                  <a:tcPr marL="133350" marR="133350" marT="66675" marB="66675" anchor="ctr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67BC1-FBFC-43EB-9240-015056F0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86425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PV 逆送獨立例：採集 111.111111 kWh，分成負載 40、逆送 48、損耗 23.111111。</a:t>
            </a:r>
          </a:p>
          <a:p xmlns:a="http://schemas.openxmlformats.org/drawingml/2006/main">
            <a:pPr algn="l">
              <a:def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棄光 8.888889 kWh 另列；接收電網停用時出口停止。</a:t>
            </a:r>
          </a:p>
        </p:txBody>
      </p:sp>
    </p:spTree>
    <p:extLst>
      <p:ext uri="{BB962C8B-B14F-4D97-AF65-F5344CB8AC3E}">
        <p14:creationId xmlns:p14="http://schemas.microsoft.com/office/powerpoint/2010/main" val="10719204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55862-3F3E-4C8C-AD8C-BEEBFB2F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使用者驗算與對外說明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4AD66-5B96-42FD-AB7A-6AD0E05E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HighwaySwapSim v0.6  驗證記錄     9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16ED2-FA4C-4855-B634-14F2EEAA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1  備份設定，填寫設備規格、需求、電價與成本。</a:t>
            </a:r>
          </a:p>
          <a:p xmlns:a="http://schemas.openxmlformats.org/drawingml/2006/main">
            <a:pPr algn="l">
              <a:def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2  套用完整模型，新增設備時重建並逐線核對。</a:t>
            </a:r>
          </a:p>
          <a:p xmlns:a="http://schemas.openxmlformats.org/drawingml/2006/main">
            <a:pPr algn="l">
              <a:def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3  執行測算，確認必要缺值與守恆警示。</a:t>
            </a:r>
          </a:p>
          <a:p xmlns:a="http://schemas.openxmlformats.org/drawingml/2006/main">
            <a:pPr algn="l">
              <a:def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4  拉動時間軸，再用累計模式核對同一期間。</a:t>
            </a:r>
          </a:p>
          <a:p xmlns:a="http://schemas.openxmlformats.org/drawingml/2006/main">
            <a:pPr algn="l">
              <a:def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5  匯出結果 XLSX，保留參數快照與案例版本。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FF8BA-0DAE-4211-B8D6-FDA9E0C8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EB6"/>
                </a:solidFill>
                <a:latin typeface="Noto Sans CJK TC"/>
                <a:ea typeface="Noto Sans CJK TC"/>
                <a:cs typeface="Noto Sans CJK TC"/>
              </a:rPr>
              <a:t>可對外陳述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EB278-2176-4432-9747-1C90EA86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10871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「指定版本與參數下，三個多日案例的獨立重算、</a:t>
            </a:r>
          </a:p>
          <a:p xmlns:a="http://schemas.openxmlformats.org/drawingml/2006/main">
            <a:pPr algn="l">
              <a:defRPr sz="2400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52D3C"/>
                </a:solidFill>
                <a:latin typeface="Noto Sans CJK TC"/>
                <a:ea typeface="Noto Sans CJK TC"/>
                <a:cs typeface="Noto Sans CJK TC"/>
              </a:rPr>
              <a:t>逐節點能量帳及結算比對均在約定容差內通過。」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FEC04-EB88-4473-8B88-CA0BF5D0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43575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現場校準仍需要設備曲線、到站紀錄、實際月電費與成本單據。</a:t>
            </a:r>
          </a:p>
          <a:p xmlns:a="http://schemas.openxmlformats.org/drawingml/2006/main">
            <a:pPr algn="l">
              <a:defRPr sz="1800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4F646F"/>
                </a:solidFill>
                <a:latin typeface="Noto Sans CJK TC"/>
                <a:ea typeface="Noto Sans CJK TC"/>
                <a:cs typeface="Noto Sans CJK TC"/>
              </a:rPr>
              <a:t>這份驗證不保證所有輸入組合或實際利潤 100% 正確。</a:t>
            </a:r>
          </a:p>
        </p:txBody>
      </p:sp>
    </p:spTree>
    <p:extLst>
      <p:ext uri="{BB962C8B-B14F-4D97-AF65-F5344CB8AC3E}">
        <p14:creationId xmlns:p14="http://schemas.microsoft.com/office/powerpoint/2010/main" val="298221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2026-09-09T03:48:22.7380000Z</dcterms:created>
  <dcterms:modified xsi:type="dcterms:W3CDTF">2026-09-09T03:48:22.7380000Z</dcterms:modified>
</coreProperties>
</file>